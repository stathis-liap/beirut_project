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15"/>
  </p:notesMasterIdLst>
  <p:sldIdLst>
    <p:sldId id="256" r:id="rId10"/>
    <p:sldId id="257" r:id="rId11"/>
    <p:sldId id="258" r:id="rId12"/>
    <p:sldId id="259" r:id="rId13"/>
    <p:sldId id="260" r:id="rId14"/>
    <p:sldId id="261" r:id="rId9"/>
    <p:sldId id="262" r:id="rId8"/>
    <p:sldId id="263" r:id="rId7"/>
    <p:sldId id="264" r:id="rId6"/>
    <p:sldId id="265" r:id="rId5"/>
    <p:sldId id="266" r:id="rId20"/>
    <p:sldId id="267" r:id="rId21"/>
    <p:sldId id="268" r:id="rId22"/>
    <p:sldId id="269" r:id="rId23"/>
    <p:sldId id="270" r:id="rId24"/>
    <p:sldId id="271" r:id="rId25"/>
  </p:sldIdLst>
  <p:sldSz cx="12192000" cy="6858000"/>
  <p:notesSz cx="6858000" cy="9144000"/>
  <p:defaultTextStyle>
    <a:defPPr>
      <a:defRPr lang="el-G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223F"/>
    <a:srgbClr val="B6B6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2016" autoAdjust="0"/>
    <p:restoredTop sz="86420" autoAdjust="0"/>
  </p:normalViewPr>
  <p:slideViewPr>
    <p:cSldViewPr showGuides="1">
      <p:cViewPr varScale="1">
        <p:scale>
          <a:sx n="139" d="100"/>
          <a:sy n="139" d="100"/>
        </p:scale>
        <p:origin x="516" y="96"/>
      </p:cViewPr>
      <p:guideLst>
        <p:guide orient="horz" pos="2160"/>
        <p:guide pos="3840"/>
      </p:guideLst>
    </p:cSldViewPr>
  </p:slideViewPr>
  <p:outlineViewPr>
    <p:cViewPr>
      <p:scale>
        <a:sx n="33" d="100"/>
        <a:sy n="33" d="100"/>
      </p:scale>
      <p:origin x="0" y="0"/>
    </p:cViewPr>
  </p:outlin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10.xml"/><Relationship Id="rId6" Type="http://schemas.openxmlformats.org/officeDocument/2006/relationships/slide" Target="slides/slide9.xml"/><Relationship Id="rId7" Type="http://schemas.openxmlformats.org/officeDocument/2006/relationships/slide" Target="slides/slide8.xml"/><Relationship Id="rId8" Type="http://schemas.openxmlformats.org/officeDocument/2006/relationships/slide" Target="slides/slide7.xml"/><Relationship Id="rId9" Type="http://schemas.openxmlformats.org/officeDocument/2006/relationships/slide" Target="slides/slide6.xml"/><Relationship Id="rId10" Type="http://schemas.openxmlformats.org/officeDocument/2006/relationships/slide" Target="slides/slide1.xml"/><Relationship Id="rId11" Type="http://schemas.openxmlformats.org/officeDocument/2006/relationships/slide" Target="slides/slide2.xml"/><Relationship Id="rId12" Type="http://schemas.openxmlformats.org/officeDocument/2006/relationships/slide" Target="slides/slide3.xml"/><Relationship Id="rId13" Type="http://schemas.openxmlformats.org/officeDocument/2006/relationships/slide" Target="slides/slide4.xml"/><Relationship Id="rId14" Type="http://schemas.openxmlformats.org/officeDocument/2006/relationships/slide" Target="slides/slide5.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 Id="rId20" Type="http://schemas.openxmlformats.org/officeDocument/2006/relationships/slide" Target="slides/slide11.xml"/><Relationship Id="rId21" Type="http://schemas.openxmlformats.org/officeDocument/2006/relationships/slide" Target="slides/slide12.xml"/><Relationship Id="rId22" Type="http://schemas.openxmlformats.org/officeDocument/2006/relationships/slide" Target="slides/slide13.xml"/><Relationship Id="rId23" Type="http://schemas.openxmlformats.org/officeDocument/2006/relationships/slide" Target="slides/slide14.xml"/><Relationship Id="rId24" Type="http://schemas.openxmlformats.org/officeDocument/2006/relationships/slide" Target="slides/slide15.xml"/><Relationship Id="rId25"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l-GR"/>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C04831B-E64F-40D8-9FFC-9D0B14820E22}" type="datetimeFigureOut">
              <a:rPr lang="el-GR" smtClean="0"/>
              <a:t>29/7/2026</a:t>
            </a:fld>
            <a:endParaRPr lang="el-GR"/>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l-GR"/>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l-G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l-GR"/>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E17DA6C-7A3B-47E8-BC5A-4B571BC21BE8}" type="slidenum">
              <a:rPr lang="el-GR" smtClean="0"/>
              <a:t>‹#›</a:t>
            </a:fld>
            <a:endParaRPr lang="el-GR"/>
          </a:p>
        </p:txBody>
      </p:sp>
    </p:spTree>
    <p:extLst>
      <p:ext uri="{BB962C8B-B14F-4D97-AF65-F5344CB8AC3E}">
        <p14:creationId xmlns:p14="http://schemas.microsoft.com/office/powerpoint/2010/main" val="152168978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eg"/><Relationship Id="rId3" Type="http://schemas.openxmlformats.org/officeDocument/2006/relationships/image" Target="../media/image5.png"/><Relationship Id="rId4" Type="http://schemas.openxmlformats.org/officeDocument/2006/relationships/image" Target="../media/image6.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7.png"/><Relationship Id="rId4" Type="http://schemas.openxmlformats.org/officeDocument/2006/relationships/image" Target="../media/image8.png"/><Relationship Id="rId5" Type="http://schemas.openxmlformats.org/officeDocument/2006/relationships/image" Target="../media/image1.png"/><Relationship Id="rId6"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 Id="rId3" Type="http://schemas.openxmlformats.org/officeDocument/2006/relationships/image" Target="../media/image6.png"/><Relationship Id="rId4" Type="http://schemas.openxmlformats.org/officeDocument/2006/relationships/image" Target="../media/image5.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Intro Slide">
    <p:spTree>
      <p:nvGrpSpPr>
        <p:cNvPr id="1" name=""/>
        <p:cNvGrpSpPr/>
        <p:nvPr/>
      </p:nvGrpSpPr>
      <p:grpSpPr>
        <a:xfrm>
          <a:off x="0" y="0"/>
          <a:ext cx="0" cy="0"/>
          <a:chOff x="0" y="0"/>
          <a:chExt cx="0" cy="0"/>
        </a:xfrm>
      </p:grpSpPr>
      <p:pic>
        <p:nvPicPr>
          <p:cNvPr id="6" name="Picture 4">
            <a:extLst>
              <a:ext uri="{FF2B5EF4-FFF2-40B4-BE49-F238E27FC236}">
                <a16:creationId xmlns:a16="http://schemas.microsoft.com/office/drawing/2014/main" id="{479B5FA8-80C0-7251-BFC0-EE23B6AC090A}"/>
              </a:ext>
            </a:extLst>
          </p:cNvPr>
          <p:cNvPicPr>
            <a:picLocks noChangeAspect="1"/>
          </p:cNvPicPr>
          <p:nvPr userDrawn="1"/>
        </p:nvPicPr>
        <p:blipFill>
          <a:blip r:embed="rId2"/>
          <a:srcRect l="34635" r="5736" b="36159"/>
          <a:stretch>
            <a:fillRect/>
          </a:stretch>
        </p:blipFill>
        <p:spPr>
          <a:xfrm>
            <a:off x="0" y="-37252"/>
            <a:ext cx="12191996" cy="6895252"/>
          </a:xfrm>
          <a:prstGeom prst="rect">
            <a:avLst/>
          </a:prstGeom>
          <a:noFill/>
          <a:ln cap="flat">
            <a:noFill/>
          </a:ln>
        </p:spPr>
      </p:pic>
      <p:pic>
        <p:nvPicPr>
          <p:cNvPr id="5" name="Picture 29">
            <a:extLst>
              <a:ext uri="{FF2B5EF4-FFF2-40B4-BE49-F238E27FC236}">
                <a16:creationId xmlns:a16="http://schemas.microsoft.com/office/drawing/2014/main" id="{697161C9-1CA6-B661-9AE0-BE09EA79FDFF}"/>
              </a:ext>
            </a:extLst>
          </p:cNvPr>
          <p:cNvPicPr>
            <a:picLocks noChangeAspect="1"/>
          </p:cNvPicPr>
          <p:nvPr userDrawn="1"/>
        </p:nvPicPr>
        <p:blipFill>
          <a:blip r:embed="rId3"/>
          <a:stretch>
            <a:fillRect/>
          </a:stretch>
        </p:blipFill>
        <p:spPr>
          <a:xfrm>
            <a:off x="819310" y="663578"/>
            <a:ext cx="3978508" cy="1120798"/>
          </a:xfrm>
          <a:prstGeom prst="rect">
            <a:avLst/>
          </a:prstGeom>
          <a:noFill/>
          <a:ln cap="flat">
            <a:noFill/>
          </a:ln>
        </p:spPr>
      </p:pic>
      <p:sp>
        <p:nvSpPr>
          <p:cNvPr id="14" name="TextBox 13">
            <a:extLst>
              <a:ext uri="{FF2B5EF4-FFF2-40B4-BE49-F238E27FC236}">
                <a16:creationId xmlns:a16="http://schemas.microsoft.com/office/drawing/2014/main" id="{8A11C8B6-5871-AEB7-6AF6-D62C2420E900}"/>
              </a:ext>
            </a:extLst>
          </p:cNvPr>
          <p:cNvSpPr txBox="1"/>
          <p:nvPr userDrawn="1"/>
        </p:nvSpPr>
        <p:spPr>
          <a:xfrm>
            <a:off x="824206" y="5915859"/>
            <a:ext cx="4695358" cy="70788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 dirty="0">
                <a:solidFill>
                  <a:schemeClr val="bg1"/>
                </a:solidFill>
                <a:latin typeface="Nunito Sans Normal" pitchFamily="2" charset="0"/>
              </a:rPr>
              <a:t>Funded by the European Union. Views and opinions expressed are however those of the author(s) only and do not necessarily reflect those of the European Union or the European Climate, Infrastructure and Environment Executive Agency CINEA. Neither the European Union nor the granting authority can be held responsible for them.</a:t>
            </a:r>
          </a:p>
          <a:p>
            <a:endParaRPr lang="el-GR" sz="800" dirty="0">
              <a:solidFill>
                <a:schemeClr val="bg1"/>
              </a:solidFill>
              <a:latin typeface="Nunito Sans Normal" pitchFamily="2" charset="0"/>
            </a:endParaRPr>
          </a:p>
        </p:txBody>
      </p:sp>
      <p:graphicFrame>
        <p:nvGraphicFramePr>
          <p:cNvPr id="18" name="Table 17">
            <a:extLst>
              <a:ext uri="{FF2B5EF4-FFF2-40B4-BE49-F238E27FC236}">
                <a16:creationId xmlns:a16="http://schemas.microsoft.com/office/drawing/2014/main" id="{99BE2DB1-3BDE-2ED8-2090-7895DA406BDD}"/>
              </a:ext>
            </a:extLst>
          </p:cNvPr>
          <p:cNvGraphicFramePr>
            <a:graphicFrameLocks noGrp="1"/>
          </p:cNvGraphicFramePr>
          <p:nvPr userDrawn="1">
            <p:extLst>
              <p:ext uri="{D42A27DB-BD31-4B8C-83A1-F6EECF244321}">
                <p14:modId xmlns:p14="http://schemas.microsoft.com/office/powerpoint/2010/main" val="3970686561"/>
              </p:ext>
            </p:extLst>
          </p:nvPr>
        </p:nvGraphicFramePr>
        <p:xfrm>
          <a:off x="834699" y="2007579"/>
          <a:ext cx="4695358" cy="266700"/>
        </p:xfrm>
        <a:graphic>
          <a:graphicData uri="http://schemas.openxmlformats.org/drawingml/2006/table">
            <a:tbl>
              <a:tblPr/>
              <a:tblGrid>
                <a:gridCol w="4695358">
                  <a:extLst>
                    <a:ext uri="{9D8B030D-6E8A-4147-A177-3AD203B41FA5}">
                      <a16:colId xmlns:a16="http://schemas.microsoft.com/office/drawing/2014/main" val="962851812"/>
                    </a:ext>
                  </a:extLst>
                </a:gridCol>
              </a:tblGrid>
              <a:tr h="266700">
                <a:tc>
                  <a:txBody>
                    <a:bodyPr/>
                    <a:lstStyle/>
                    <a:p>
                      <a:pPr algn="l" fontAlgn="ctr">
                        <a:buNone/>
                      </a:pPr>
                      <a:r>
                        <a:rPr lang="en-US" sz="800" b="0" i="0" u="none" strike="noStrike" dirty="0">
                          <a:solidFill>
                            <a:schemeClr val="bg1"/>
                          </a:solidFill>
                          <a:effectLst/>
                          <a:latin typeface="Nunito Sans Normal" pitchFamily="2" charset="0"/>
                        </a:rPr>
                        <a:t>Dynamic Digital Twins and AI-Enabled Urban Planning for Sustainable, Citizen-</a:t>
                      </a:r>
                      <a:r>
                        <a:rPr lang="en-US" sz="800" b="0" i="0" u="none" strike="noStrike" dirty="0" err="1">
                          <a:solidFill>
                            <a:schemeClr val="bg1"/>
                          </a:solidFill>
                          <a:effectLst/>
                          <a:latin typeface="Nunito Sans Normal" pitchFamily="2" charset="0"/>
                        </a:rPr>
                        <a:t>Centred</a:t>
                      </a:r>
                      <a:r>
                        <a:rPr lang="en-US" sz="800" b="0" i="0" u="none" strike="noStrike" dirty="0">
                          <a:solidFill>
                            <a:schemeClr val="bg1"/>
                          </a:solidFill>
                          <a:effectLst/>
                          <a:latin typeface="Nunito Sans Normal" pitchFamily="2" charset="0"/>
                        </a:rPr>
                        <a:t> Cities</a:t>
                      </a:r>
                    </a:p>
                  </a:txBody>
                  <a:tcPr marL="9525" marR="9525" marT="9525" anchor="ctr">
                    <a:lnL>
                      <a:noFill/>
                    </a:lnL>
                    <a:lnR>
                      <a:noFill/>
                    </a:lnR>
                    <a:lnT>
                      <a:noFill/>
                    </a:lnT>
                    <a:lnB>
                      <a:noFill/>
                    </a:lnB>
                    <a:noFill/>
                  </a:tcPr>
                </a:tc>
                <a:extLst>
                  <a:ext uri="{0D108BD9-81ED-4DB2-BD59-A6C34878D82A}">
                    <a16:rowId xmlns:a16="http://schemas.microsoft.com/office/drawing/2014/main" val="2456459166"/>
                  </a:ext>
                </a:extLst>
              </a:tr>
            </a:tbl>
          </a:graphicData>
        </a:graphic>
      </p:graphicFrame>
      <p:sp>
        <p:nvSpPr>
          <p:cNvPr id="20" name="TextBox 19">
            <a:extLst>
              <a:ext uri="{FF2B5EF4-FFF2-40B4-BE49-F238E27FC236}">
                <a16:creationId xmlns:a16="http://schemas.microsoft.com/office/drawing/2014/main" id="{A58BEB49-33E6-E21E-96DC-9B60BFF2BE0D}"/>
              </a:ext>
            </a:extLst>
          </p:cNvPr>
          <p:cNvSpPr txBox="1"/>
          <p:nvPr userDrawn="1"/>
        </p:nvSpPr>
        <p:spPr>
          <a:xfrm>
            <a:off x="6240016" y="6269802"/>
            <a:ext cx="2178184" cy="246221"/>
          </a:xfrm>
          <a:prstGeom prst="rect">
            <a:avLst/>
          </a:prstGeom>
          <a:noFill/>
        </p:spPr>
        <p:txBody>
          <a:bodyPr wrap="square">
            <a:spAutoFit/>
          </a:bodyPr>
          <a:lstStyle/>
          <a:p>
            <a:r>
              <a:rPr lang="en-US" sz="1000" dirty="0">
                <a:solidFill>
                  <a:schemeClr val="bg1"/>
                </a:solidFill>
                <a:latin typeface="Nunito Sans Normal" pitchFamily="2" charset="0"/>
              </a:rPr>
              <a:t>HORIZON-MISS-2025-04-CIT-02</a:t>
            </a:r>
          </a:p>
        </p:txBody>
      </p:sp>
      <p:pic>
        <p:nvPicPr>
          <p:cNvPr id="28" name="Picture 27">
            <a:extLst>
              <a:ext uri="{FF2B5EF4-FFF2-40B4-BE49-F238E27FC236}">
                <a16:creationId xmlns:a16="http://schemas.microsoft.com/office/drawing/2014/main" id="{FCA3248C-96AD-211E-C314-90049112184E}"/>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911424" y="5363104"/>
            <a:ext cx="1894541" cy="422081"/>
          </a:xfrm>
          <a:prstGeom prst="rect">
            <a:avLst/>
          </a:prstGeom>
        </p:spPr>
      </p:pic>
      <p:sp>
        <p:nvSpPr>
          <p:cNvPr id="7" name="TextBox 6">
            <a:extLst>
              <a:ext uri="{FF2B5EF4-FFF2-40B4-BE49-F238E27FC236}">
                <a16:creationId xmlns:a16="http://schemas.microsoft.com/office/drawing/2014/main" id="{4C040765-F0C5-6995-8188-D0FDE879FBEA}"/>
              </a:ext>
            </a:extLst>
          </p:cNvPr>
          <p:cNvSpPr txBox="1"/>
          <p:nvPr userDrawn="1"/>
        </p:nvSpPr>
        <p:spPr>
          <a:xfrm>
            <a:off x="7968208" y="2852936"/>
            <a:ext cx="184731" cy="369332"/>
          </a:xfrm>
          <a:prstGeom prst="rect">
            <a:avLst/>
          </a:prstGeom>
          <a:noFill/>
        </p:spPr>
        <p:txBody>
          <a:bodyPr wrap="none" rtlCol="0">
            <a:spAutoFit/>
          </a:bodyPr>
          <a:lstStyle/>
          <a:p>
            <a:endParaRPr lang="el-GR" dirty="0"/>
          </a:p>
        </p:txBody>
      </p:sp>
      <p:sp>
        <p:nvSpPr>
          <p:cNvPr id="8" name="TextBox 7">
            <a:extLst>
              <a:ext uri="{FF2B5EF4-FFF2-40B4-BE49-F238E27FC236}">
                <a16:creationId xmlns:a16="http://schemas.microsoft.com/office/drawing/2014/main" id="{EDD8501B-F4D9-7408-69E8-39F27B18D3EA}"/>
              </a:ext>
            </a:extLst>
          </p:cNvPr>
          <p:cNvSpPr txBox="1"/>
          <p:nvPr userDrawn="1"/>
        </p:nvSpPr>
        <p:spPr>
          <a:xfrm>
            <a:off x="9195794" y="6269802"/>
            <a:ext cx="2271776" cy="24622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dirty="0">
                <a:solidFill>
                  <a:schemeClr val="bg1"/>
                </a:solidFill>
                <a:latin typeface="Nunito Sans Normal" pitchFamily="2" charset="0"/>
              </a:rPr>
              <a:t>PROPOSAL NUMBER: 101270878</a:t>
            </a:r>
            <a:endParaRPr lang="el-GR" sz="1000" dirty="0">
              <a:solidFill>
                <a:schemeClr val="bg1"/>
              </a:solidFill>
              <a:latin typeface="Nunito Sans Normal" pitchFamily="2" charset="0"/>
            </a:endParaRPr>
          </a:p>
        </p:txBody>
      </p:sp>
      <p:sp>
        <p:nvSpPr>
          <p:cNvPr id="9" name="TextBox 8">
            <a:extLst>
              <a:ext uri="{FF2B5EF4-FFF2-40B4-BE49-F238E27FC236}">
                <a16:creationId xmlns:a16="http://schemas.microsoft.com/office/drawing/2014/main" id="{5E3A36F8-BE8C-B350-D3BD-358693CAFC3A}"/>
              </a:ext>
            </a:extLst>
          </p:cNvPr>
          <p:cNvSpPr txBox="1"/>
          <p:nvPr userDrawn="1"/>
        </p:nvSpPr>
        <p:spPr>
          <a:xfrm>
            <a:off x="736928" y="1745773"/>
            <a:ext cx="4608140" cy="338554"/>
          </a:xfrm>
          <a:prstGeom prst="rect">
            <a:avLst/>
          </a:prstGeom>
          <a:noFill/>
        </p:spPr>
        <p:txBody>
          <a:bodyPr wrap="square" rtlCol="0">
            <a:spAutoFit/>
          </a:bodyPr>
          <a:lstStyle/>
          <a:p>
            <a:r>
              <a:rPr lang="en-US" sz="1600" dirty="0">
                <a:solidFill>
                  <a:schemeClr val="bg1"/>
                </a:solidFill>
                <a:latin typeface="Nunito Sans Normal" pitchFamily="2" charset="0"/>
              </a:rPr>
              <a:t>Simulate. Co create. Transform urban life.</a:t>
            </a:r>
            <a:endParaRPr lang="el-GR" sz="1600" dirty="0">
              <a:solidFill>
                <a:schemeClr val="bg1"/>
              </a:solidFill>
              <a:latin typeface="Nunito Sans Normal" pitchFamily="2" charset="0"/>
            </a:endParaRPr>
          </a:p>
        </p:txBody>
      </p:sp>
      <p:sp>
        <p:nvSpPr>
          <p:cNvPr id="15" name="Rectangle: Diagonal Corners Rounded 14">
            <a:extLst>
              <a:ext uri="{FF2B5EF4-FFF2-40B4-BE49-F238E27FC236}">
                <a16:creationId xmlns:a16="http://schemas.microsoft.com/office/drawing/2014/main" id="{B21B51BA-BEFA-838E-53C6-683003EEDA71}"/>
              </a:ext>
            </a:extLst>
          </p:cNvPr>
          <p:cNvSpPr/>
          <p:nvPr userDrawn="1"/>
        </p:nvSpPr>
        <p:spPr>
          <a:xfrm>
            <a:off x="7737375" y="2653168"/>
            <a:ext cx="3717697" cy="1989591"/>
          </a:xfrm>
          <a:prstGeom prst="round2DiagRect">
            <a:avLst/>
          </a:prstGeom>
          <a:solidFill>
            <a:srgbClr val="B6B6FF">
              <a:alpha val="79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l-GR"/>
          </a:p>
        </p:txBody>
      </p:sp>
      <p:sp>
        <p:nvSpPr>
          <p:cNvPr id="16" name="Title 8">
            <a:extLst>
              <a:ext uri="{FF2B5EF4-FFF2-40B4-BE49-F238E27FC236}">
                <a16:creationId xmlns:a16="http://schemas.microsoft.com/office/drawing/2014/main" id="{A44C9F1E-A80C-4AEF-E636-E2FC12419276}"/>
              </a:ext>
            </a:extLst>
          </p:cNvPr>
          <p:cNvSpPr>
            <a:spLocks noGrp="1"/>
          </p:cNvSpPr>
          <p:nvPr>
            <p:ph type="title" hasCustomPrompt="1"/>
          </p:nvPr>
        </p:nvSpPr>
        <p:spPr>
          <a:xfrm>
            <a:off x="819310" y="2728527"/>
            <a:ext cx="5679984" cy="1914233"/>
          </a:xfrm>
        </p:spPr>
        <p:txBody>
          <a:bodyPr anchor="t">
            <a:normAutofit/>
          </a:bodyPr>
          <a:lstStyle>
            <a:lvl1pPr algn="l">
              <a:defRPr sz="2400" b="0">
                <a:solidFill>
                  <a:srgbClr val="B6B6FF"/>
                </a:solidFill>
              </a:defRPr>
            </a:lvl1pPr>
          </a:lstStyle>
          <a:p>
            <a:r>
              <a:rPr lang="en-US" dirty="0"/>
              <a:t>Here you can add the presentation’s title.</a:t>
            </a:r>
            <a:endParaRPr lang="el-GR" dirty="0"/>
          </a:p>
        </p:txBody>
      </p:sp>
    </p:spTree>
    <p:extLst>
      <p:ext uri="{BB962C8B-B14F-4D97-AF65-F5344CB8AC3E}">
        <p14:creationId xmlns:p14="http://schemas.microsoft.com/office/powerpoint/2010/main" val="103013250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hapter Layou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C0962AAF-E5A4-ADDA-0E42-5935105426F6}"/>
              </a:ext>
            </a:extLst>
          </p:cNvPr>
          <p:cNvSpPr/>
          <p:nvPr userDrawn="1"/>
        </p:nvSpPr>
        <p:spPr>
          <a:xfrm>
            <a:off x="0" y="0"/>
            <a:ext cx="12192000" cy="6858000"/>
          </a:xfrm>
          <a:prstGeom prst="rect">
            <a:avLst/>
          </a:prstGeom>
          <a:solidFill>
            <a:srgbClr val="00223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l-GR">
              <a:solidFill>
                <a:srgbClr val="B6B6FF"/>
              </a:solidFill>
            </a:endParaRPr>
          </a:p>
        </p:txBody>
      </p:sp>
      <p:sp>
        <p:nvSpPr>
          <p:cNvPr id="6" name="Title 5">
            <a:extLst>
              <a:ext uri="{FF2B5EF4-FFF2-40B4-BE49-F238E27FC236}">
                <a16:creationId xmlns:a16="http://schemas.microsoft.com/office/drawing/2014/main" id="{C3C358F4-8CA4-6C61-9095-E360AE594886}"/>
              </a:ext>
            </a:extLst>
          </p:cNvPr>
          <p:cNvSpPr>
            <a:spLocks noGrp="1"/>
          </p:cNvSpPr>
          <p:nvPr>
            <p:ph type="title" hasCustomPrompt="1"/>
          </p:nvPr>
        </p:nvSpPr>
        <p:spPr>
          <a:xfrm>
            <a:off x="838200" y="2579370"/>
            <a:ext cx="10515600" cy="1699260"/>
          </a:xfrm>
        </p:spPr>
        <p:txBody>
          <a:bodyPr/>
          <a:lstStyle>
            <a:lvl1pPr algn="ctr">
              <a:defRPr sz="2400">
                <a:solidFill>
                  <a:srgbClr val="B6B6FF"/>
                </a:solidFill>
              </a:defRPr>
            </a:lvl1pPr>
          </a:lstStyle>
          <a:p>
            <a:r>
              <a:rPr lang="en-US" dirty="0"/>
              <a:t>CHAPTER TITLE</a:t>
            </a:r>
            <a:endParaRPr lang="el-GR" dirty="0"/>
          </a:p>
        </p:txBody>
      </p:sp>
    </p:spTree>
    <p:extLst>
      <p:ext uri="{BB962C8B-B14F-4D97-AF65-F5344CB8AC3E}">
        <p14:creationId xmlns:p14="http://schemas.microsoft.com/office/powerpoint/2010/main" val="250846857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Layou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B3F1C30-2759-6C24-51FA-55936AAC3FB9}"/>
              </a:ext>
            </a:extLst>
          </p:cNvPr>
          <p:cNvSpPr>
            <a:spLocks noGrp="1"/>
          </p:cNvSpPr>
          <p:nvPr>
            <p:ph idx="1" hasCustomPrompt="1"/>
          </p:nvPr>
        </p:nvSpPr>
        <p:spPr>
          <a:xfrm>
            <a:off x="371475" y="1581056"/>
            <a:ext cx="11520487" cy="4351338"/>
          </a:xfrm>
        </p:spPr>
        <p:txBody>
          <a:bodyPr/>
          <a:lstStyle>
            <a:lvl1pPr>
              <a:buFont typeface="Wingdings" panose="05000000000000000000" pitchFamily="2" charset="2"/>
              <a:buNone/>
              <a:defRPr sz="1200">
                <a:solidFill>
                  <a:srgbClr val="00223F"/>
                </a:solidFill>
              </a:defRPr>
            </a:lvl1pPr>
            <a:lvl2pPr>
              <a:buFont typeface="Wingdings" panose="05000000000000000000" pitchFamily="2" charset="2"/>
              <a:buNone/>
              <a:defRPr sz="1200">
                <a:solidFill>
                  <a:srgbClr val="00223F"/>
                </a:solidFill>
              </a:defRPr>
            </a:lvl2pPr>
            <a:lvl3pPr>
              <a:buFont typeface="Wingdings" panose="05000000000000000000" pitchFamily="2" charset="2"/>
              <a:buNone/>
              <a:defRPr sz="1200">
                <a:solidFill>
                  <a:srgbClr val="00223F"/>
                </a:solidFill>
              </a:defRPr>
            </a:lvl3pPr>
            <a:lvl4pPr>
              <a:buFont typeface="Wingdings" panose="05000000000000000000" pitchFamily="2" charset="2"/>
              <a:buNone/>
              <a:defRPr sz="1200">
                <a:solidFill>
                  <a:srgbClr val="00223F"/>
                </a:solidFill>
              </a:defRPr>
            </a:lvl4pPr>
            <a:lvl5pPr>
              <a:buFont typeface="Wingdings" panose="05000000000000000000" pitchFamily="2" charset="2"/>
              <a:buNone/>
              <a:defRPr sz="1200">
                <a:solidFill>
                  <a:srgbClr val="00223F"/>
                </a:solidFill>
              </a:defRPr>
            </a:lvl5pPr>
          </a:lstStyle>
          <a:p>
            <a:pPr lvl="0"/>
            <a:r>
              <a:rPr lang="en-US" dirty="0"/>
              <a:t>Click to edit Master text styles</a:t>
            </a:r>
          </a:p>
        </p:txBody>
      </p:sp>
      <p:sp>
        <p:nvSpPr>
          <p:cNvPr id="9" name="Rectangle 8">
            <a:extLst>
              <a:ext uri="{FF2B5EF4-FFF2-40B4-BE49-F238E27FC236}">
                <a16:creationId xmlns:a16="http://schemas.microsoft.com/office/drawing/2014/main" id="{5D2559F0-2AAF-6EF0-858F-42B785288D6F}"/>
              </a:ext>
            </a:extLst>
          </p:cNvPr>
          <p:cNvSpPr/>
          <p:nvPr userDrawn="1"/>
        </p:nvSpPr>
        <p:spPr>
          <a:xfrm>
            <a:off x="0" y="1039905"/>
            <a:ext cx="11237428" cy="95624"/>
          </a:xfrm>
          <a:prstGeom prst="rect">
            <a:avLst/>
          </a:prstGeom>
          <a:solidFill>
            <a:srgbClr val="00223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l-GR"/>
          </a:p>
        </p:txBody>
      </p:sp>
      <p:sp>
        <p:nvSpPr>
          <p:cNvPr id="7" name="Title 6">
            <a:extLst>
              <a:ext uri="{FF2B5EF4-FFF2-40B4-BE49-F238E27FC236}">
                <a16:creationId xmlns:a16="http://schemas.microsoft.com/office/drawing/2014/main" id="{C1A74D21-CFF2-8770-1385-E8D3D652683D}"/>
              </a:ext>
            </a:extLst>
          </p:cNvPr>
          <p:cNvSpPr>
            <a:spLocks noGrp="1"/>
          </p:cNvSpPr>
          <p:nvPr>
            <p:ph type="title"/>
          </p:nvPr>
        </p:nvSpPr>
        <p:spPr>
          <a:xfrm>
            <a:off x="1276972" y="59764"/>
            <a:ext cx="9543427" cy="980141"/>
          </a:xfrm>
        </p:spPr>
        <p:txBody>
          <a:bodyPr>
            <a:normAutofit/>
          </a:bodyPr>
          <a:lstStyle>
            <a:lvl1pPr>
              <a:defRPr sz="2400">
                <a:solidFill>
                  <a:srgbClr val="00223F"/>
                </a:solidFill>
              </a:defRPr>
            </a:lvl1pPr>
          </a:lstStyle>
          <a:p>
            <a:endParaRPr lang="el-GR" dirty="0"/>
          </a:p>
        </p:txBody>
      </p:sp>
      <p:sp>
        <p:nvSpPr>
          <p:cNvPr id="10" name="Rectangle 9">
            <a:extLst>
              <a:ext uri="{FF2B5EF4-FFF2-40B4-BE49-F238E27FC236}">
                <a16:creationId xmlns:a16="http://schemas.microsoft.com/office/drawing/2014/main" id="{822D4A25-5F18-1AD4-A4BF-8F732B0DE9BF}"/>
              </a:ext>
            </a:extLst>
          </p:cNvPr>
          <p:cNvSpPr/>
          <p:nvPr userDrawn="1"/>
        </p:nvSpPr>
        <p:spPr>
          <a:xfrm>
            <a:off x="11326731" y="1036917"/>
            <a:ext cx="110565" cy="98612"/>
          </a:xfrm>
          <a:prstGeom prst="rect">
            <a:avLst/>
          </a:prstGeom>
          <a:solidFill>
            <a:srgbClr val="00223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l-GR"/>
          </a:p>
        </p:txBody>
      </p:sp>
      <p:sp>
        <p:nvSpPr>
          <p:cNvPr id="12" name="Rectangle 11">
            <a:extLst>
              <a:ext uri="{FF2B5EF4-FFF2-40B4-BE49-F238E27FC236}">
                <a16:creationId xmlns:a16="http://schemas.microsoft.com/office/drawing/2014/main" id="{B32FA5EB-EC3C-C06A-3D37-6A6E373B5DCA}"/>
              </a:ext>
            </a:extLst>
          </p:cNvPr>
          <p:cNvSpPr/>
          <p:nvPr userDrawn="1"/>
        </p:nvSpPr>
        <p:spPr>
          <a:xfrm>
            <a:off x="11526599" y="1036917"/>
            <a:ext cx="110565" cy="98612"/>
          </a:xfrm>
          <a:prstGeom prst="rect">
            <a:avLst/>
          </a:prstGeom>
          <a:solidFill>
            <a:srgbClr val="00223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l-GR"/>
          </a:p>
        </p:txBody>
      </p:sp>
      <p:sp>
        <p:nvSpPr>
          <p:cNvPr id="13" name="Rectangle 12">
            <a:extLst>
              <a:ext uri="{FF2B5EF4-FFF2-40B4-BE49-F238E27FC236}">
                <a16:creationId xmlns:a16="http://schemas.microsoft.com/office/drawing/2014/main" id="{DD3892CE-C6CF-362A-6502-DB26997CC08A}"/>
              </a:ext>
            </a:extLst>
          </p:cNvPr>
          <p:cNvSpPr/>
          <p:nvPr userDrawn="1"/>
        </p:nvSpPr>
        <p:spPr>
          <a:xfrm>
            <a:off x="11726467" y="1036917"/>
            <a:ext cx="110565" cy="98612"/>
          </a:xfrm>
          <a:prstGeom prst="rect">
            <a:avLst/>
          </a:prstGeom>
          <a:solidFill>
            <a:srgbClr val="00223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l-GR"/>
          </a:p>
        </p:txBody>
      </p:sp>
      <p:sp>
        <p:nvSpPr>
          <p:cNvPr id="14" name="Rectangle 13">
            <a:extLst>
              <a:ext uri="{FF2B5EF4-FFF2-40B4-BE49-F238E27FC236}">
                <a16:creationId xmlns:a16="http://schemas.microsoft.com/office/drawing/2014/main" id="{9FBB6539-7ADA-AFBE-64D2-CA6D915202AD}"/>
              </a:ext>
            </a:extLst>
          </p:cNvPr>
          <p:cNvSpPr/>
          <p:nvPr userDrawn="1"/>
        </p:nvSpPr>
        <p:spPr>
          <a:xfrm>
            <a:off x="1" y="1"/>
            <a:ext cx="1187668" cy="1036916"/>
          </a:xfrm>
          <a:prstGeom prst="rect">
            <a:avLst/>
          </a:prstGeom>
          <a:solidFill>
            <a:srgbClr val="00223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l-GR"/>
          </a:p>
        </p:txBody>
      </p:sp>
      <p:sp>
        <p:nvSpPr>
          <p:cNvPr id="16" name="Text Placeholder 15">
            <a:extLst>
              <a:ext uri="{FF2B5EF4-FFF2-40B4-BE49-F238E27FC236}">
                <a16:creationId xmlns:a16="http://schemas.microsoft.com/office/drawing/2014/main" id="{82B101CE-3575-9642-9A4B-7D61FE77C315}"/>
              </a:ext>
            </a:extLst>
          </p:cNvPr>
          <p:cNvSpPr>
            <a:spLocks noGrp="1"/>
          </p:cNvSpPr>
          <p:nvPr>
            <p:ph type="body" sz="quarter" idx="10" hasCustomPrompt="1"/>
          </p:nvPr>
        </p:nvSpPr>
        <p:spPr>
          <a:xfrm>
            <a:off x="198438" y="220663"/>
            <a:ext cx="846137" cy="731837"/>
          </a:xfrm>
        </p:spPr>
        <p:txBody>
          <a:bodyPr anchor="ctr"/>
          <a:lstStyle>
            <a:lvl1pPr algn="ctr">
              <a:buNone/>
              <a:defRPr>
                <a:solidFill>
                  <a:srgbClr val="B6B6FF"/>
                </a:solidFill>
              </a:defRPr>
            </a:lvl1pPr>
          </a:lstStyle>
          <a:p>
            <a:pPr lvl="0"/>
            <a:r>
              <a:rPr lang="en-US" dirty="0"/>
              <a:t>01</a:t>
            </a:r>
            <a:endParaRPr lang="el-GR" dirty="0"/>
          </a:p>
        </p:txBody>
      </p:sp>
    </p:spTree>
    <p:extLst>
      <p:ext uri="{BB962C8B-B14F-4D97-AF65-F5344CB8AC3E}">
        <p14:creationId xmlns:p14="http://schemas.microsoft.com/office/powerpoint/2010/main" val="672874401"/>
      </p:ext>
    </p:extLst>
  </p:cSld>
  <p:clrMapOvr>
    <a:masterClrMapping/>
  </p:clrMapOvr>
  <p:extLst>
    <p:ext uri="{DCECCB84-F9BA-43D5-87BE-67443E8EF086}">
      <p15:sldGuideLst xmlns:p15="http://schemas.microsoft.com/office/powerpoint/2012/main">
        <p15:guide id="1" pos="234" userDrawn="1">
          <p15:clr>
            <a:srgbClr val="FBAE40"/>
          </p15:clr>
        </p15:guide>
        <p15:guide id="2" pos="7491"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Two Column Text &amp; Image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BB308C-EF0B-E5E0-7A05-5F348A90782A}"/>
              </a:ext>
            </a:extLst>
          </p:cNvPr>
          <p:cNvSpPr>
            <a:spLocks noGrp="1"/>
          </p:cNvSpPr>
          <p:nvPr>
            <p:ph type="title"/>
          </p:nvPr>
        </p:nvSpPr>
        <p:spPr>
          <a:xfrm>
            <a:off x="335361" y="460059"/>
            <a:ext cx="9793087" cy="492441"/>
          </a:xfrm>
        </p:spPr>
        <p:txBody>
          <a:bodyPr anchor="b"/>
          <a:lstStyle>
            <a:lvl1pPr>
              <a:defRPr sz="2400">
                <a:solidFill>
                  <a:srgbClr val="00223F"/>
                </a:solidFill>
              </a:defRPr>
            </a:lvl1pPr>
          </a:lstStyle>
          <a:p>
            <a:endParaRPr lang="el-GR" dirty="0"/>
          </a:p>
        </p:txBody>
      </p:sp>
      <p:sp>
        <p:nvSpPr>
          <p:cNvPr id="3" name="Text Placeholder 2">
            <a:extLst>
              <a:ext uri="{FF2B5EF4-FFF2-40B4-BE49-F238E27FC236}">
                <a16:creationId xmlns:a16="http://schemas.microsoft.com/office/drawing/2014/main" id="{B6F0C104-0E25-8982-0DD9-0EE6EFFD87C5}"/>
              </a:ext>
            </a:extLst>
          </p:cNvPr>
          <p:cNvSpPr>
            <a:spLocks noGrp="1"/>
          </p:cNvSpPr>
          <p:nvPr>
            <p:ph type="body" idx="1"/>
          </p:nvPr>
        </p:nvSpPr>
        <p:spPr>
          <a:xfrm>
            <a:off x="335361" y="1196340"/>
            <a:ext cx="5760639" cy="4648199"/>
          </a:xfrm>
        </p:spPr>
        <p:txBody>
          <a:bodyPr/>
          <a:lstStyle>
            <a:lvl1pPr marL="0" indent="0">
              <a:buNone/>
              <a:defRPr sz="1200">
                <a:solidFill>
                  <a:srgbClr val="00223F"/>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p>
        </p:txBody>
      </p:sp>
      <p:sp>
        <p:nvSpPr>
          <p:cNvPr id="8" name="Picture Placeholder 7">
            <a:extLst>
              <a:ext uri="{FF2B5EF4-FFF2-40B4-BE49-F238E27FC236}">
                <a16:creationId xmlns:a16="http://schemas.microsoft.com/office/drawing/2014/main" id="{8B354BFA-AF8A-FD32-0996-CF795265A2F4}"/>
              </a:ext>
            </a:extLst>
          </p:cNvPr>
          <p:cNvSpPr>
            <a:spLocks noGrp="1"/>
          </p:cNvSpPr>
          <p:nvPr>
            <p:ph type="pic" sz="quarter" idx="10"/>
          </p:nvPr>
        </p:nvSpPr>
        <p:spPr>
          <a:xfrm>
            <a:off x="6779339" y="1195704"/>
            <a:ext cx="5040559" cy="4648835"/>
          </a:xfrm>
          <a:ln>
            <a:solidFill>
              <a:srgbClr val="B6B6FF"/>
            </a:solidFill>
          </a:ln>
        </p:spPr>
        <p:txBody>
          <a:bodyPr/>
          <a:lstStyle/>
          <a:p>
            <a:r>
              <a:rPr lang="en-US" dirty="0"/>
              <a:t>Click icon to add picture</a:t>
            </a:r>
            <a:endParaRPr lang="el-GR" dirty="0"/>
          </a:p>
        </p:txBody>
      </p:sp>
    </p:spTree>
    <p:extLst>
      <p:ext uri="{BB962C8B-B14F-4D97-AF65-F5344CB8AC3E}">
        <p14:creationId xmlns:p14="http://schemas.microsoft.com/office/powerpoint/2010/main" val="16193792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mp; Two Column Text Layou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6B66360-2302-571A-C3E2-C907A5997D10}"/>
              </a:ext>
            </a:extLst>
          </p:cNvPr>
          <p:cNvSpPr>
            <a:spLocks noGrp="1"/>
          </p:cNvSpPr>
          <p:nvPr>
            <p:ph sz="half" idx="1" hasCustomPrompt="1"/>
          </p:nvPr>
        </p:nvSpPr>
        <p:spPr>
          <a:xfrm>
            <a:off x="369417" y="1432561"/>
            <a:ext cx="5078512" cy="4556760"/>
          </a:xfrm>
        </p:spPr>
        <p:txBody>
          <a:bodyPr/>
          <a:lstStyle>
            <a:lvl1pPr>
              <a:buFont typeface="Wingdings" panose="05000000000000000000" pitchFamily="2" charset="2"/>
              <a:buNone/>
              <a:defRPr sz="1200">
                <a:solidFill>
                  <a:srgbClr val="00223F"/>
                </a:solidFill>
              </a:defRPr>
            </a:lvl1pPr>
            <a:lvl2pPr>
              <a:buFont typeface="Wingdings" panose="05000000000000000000" pitchFamily="2" charset="2"/>
              <a:buNone/>
              <a:defRPr sz="1200">
                <a:solidFill>
                  <a:srgbClr val="00223F"/>
                </a:solidFill>
              </a:defRPr>
            </a:lvl2pPr>
            <a:lvl3pPr>
              <a:buFont typeface="Wingdings" panose="05000000000000000000" pitchFamily="2" charset="2"/>
              <a:buNone/>
              <a:defRPr sz="1200">
                <a:solidFill>
                  <a:srgbClr val="00223F"/>
                </a:solidFill>
              </a:defRPr>
            </a:lvl3pPr>
            <a:lvl4pPr>
              <a:buFont typeface="Wingdings" panose="05000000000000000000" pitchFamily="2" charset="2"/>
              <a:buNone/>
              <a:defRPr sz="1200">
                <a:solidFill>
                  <a:srgbClr val="00223F"/>
                </a:solidFill>
              </a:defRPr>
            </a:lvl4pPr>
            <a:lvl5pPr>
              <a:buFont typeface="Wingdings" panose="05000000000000000000" pitchFamily="2" charset="2"/>
              <a:buNone/>
              <a:defRPr sz="1200">
                <a:solidFill>
                  <a:srgbClr val="00223F"/>
                </a:solidFill>
              </a:defRPr>
            </a:lvl5pPr>
          </a:lstStyle>
          <a:p>
            <a:pPr lvl="0"/>
            <a:r>
              <a:rPr lang="en-US" dirty="0"/>
              <a:t>Click to edit Master text styles</a:t>
            </a:r>
            <a:endParaRPr lang="el-GR" dirty="0"/>
          </a:p>
        </p:txBody>
      </p:sp>
      <p:sp>
        <p:nvSpPr>
          <p:cNvPr id="4" name="Content Placeholder 3">
            <a:extLst>
              <a:ext uri="{FF2B5EF4-FFF2-40B4-BE49-F238E27FC236}">
                <a16:creationId xmlns:a16="http://schemas.microsoft.com/office/drawing/2014/main" id="{0E1B09B6-897B-062A-DB68-7BC31474E133}"/>
              </a:ext>
            </a:extLst>
          </p:cNvPr>
          <p:cNvSpPr>
            <a:spLocks noGrp="1"/>
          </p:cNvSpPr>
          <p:nvPr>
            <p:ph sz="half" idx="2" hasCustomPrompt="1"/>
          </p:nvPr>
        </p:nvSpPr>
        <p:spPr>
          <a:xfrm>
            <a:off x="6249718" y="1424511"/>
            <a:ext cx="5078512" cy="4556760"/>
          </a:xfrm>
        </p:spPr>
        <p:txBody>
          <a:bodyPr/>
          <a:lstStyle>
            <a:lvl1pPr>
              <a:buFont typeface="Wingdings" panose="05000000000000000000" pitchFamily="2" charset="2"/>
              <a:buNone/>
              <a:defRPr sz="1200">
                <a:solidFill>
                  <a:srgbClr val="00223F"/>
                </a:solidFill>
              </a:defRPr>
            </a:lvl1pPr>
            <a:lvl2pPr>
              <a:buFont typeface="Wingdings" panose="05000000000000000000" pitchFamily="2" charset="2"/>
              <a:buNone/>
              <a:defRPr sz="1200">
                <a:solidFill>
                  <a:srgbClr val="00223F"/>
                </a:solidFill>
              </a:defRPr>
            </a:lvl2pPr>
            <a:lvl3pPr>
              <a:buFont typeface="Wingdings" panose="05000000000000000000" pitchFamily="2" charset="2"/>
              <a:buNone/>
              <a:defRPr sz="1200">
                <a:solidFill>
                  <a:srgbClr val="00223F"/>
                </a:solidFill>
              </a:defRPr>
            </a:lvl3pPr>
            <a:lvl4pPr>
              <a:buFont typeface="Wingdings" panose="05000000000000000000" pitchFamily="2" charset="2"/>
              <a:buNone/>
              <a:defRPr sz="1200">
                <a:solidFill>
                  <a:srgbClr val="00223F"/>
                </a:solidFill>
              </a:defRPr>
            </a:lvl4pPr>
            <a:lvl5pPr>
              <a:buFont typeface="Wingdings" panose="05000000000000000000" pitchFamily="2" charset="2"/>
              <a:buNone/>
              <a:defRPr sz="1200">
                <a:solidFill>
                  <a:srgbClr val="00223F"/>
                </a:solidFill>
              </a:defRPr>
            </a:lvl5pPr>
          </a:lstStyle>
          <a:p>
            <a:pPr lvl="0"/>
            <a:r>
              <a:rPr lang="en-US" dirty="0"/>
              <a:t>Click to edit Master text styles</a:t>
            </a:r>
          </a:p>
        </p:txBody>
      </p:sp>
      <p:sp>
        <p:nvSpPr>
          <p:cNvPr id="5" name="Title 1">
            <a:extLst>
              <a:ext uri="{FF2B5EF4-FFF2-40B4-BE49-F238E27FC236}">
                <a16:creationId xmlns:a16="http://schemas.microsoft.com/office/drawing/2014/main" id="{54D763E8-28A1-8EA0-F3D6-31244623F076}"/>
              </a:ext>
            </a:extLst>
          </p:cNvPr>
          <p:cNvSpPr>
            <a:spLocks noGrp="1"/>
          </p:cNvSpPr>
          <p:nvPr>
            <p:ph type="title"/>
          </p:nvPr>
        </p:nvSpPr>
        <p:spPr>
          <a:xfrm>
            <a:off x="335361" y="460059"/>
            <a:ext cx="9793087" cy="492441"/>
          </a:xfrm>
        </p:spPr>
        <p:txBody>
          <a:bodyPr anchor="b"/>
          <a:lstStyle>
            <a:lvl1pPr>
              <a:defRPr sz="2400">
                <a:solidFill>
                  <a:srgbClr val="00223F"/>
                </a:solidFill>
              </a:defRPr>
            </a:lvl1pPr>
          </a:lstStyle>
          <a:p>
            <a:endParaRPr lang="el-GR" dirty="0"/>
          </a:p>
        </p:txBody>
      </p:sp>
    </p:spTree>
    <p:extLst>
      <p:ext uri="{BB962C8B-B14F-4D97-AF65-F5344CB8AC3E}">
        <p14:creationId xmlns:p14="http://schemas.microsoft.com/office/powerpoint/2010/main" val="2457018938"/>
      </p:ext>
    </p:extLst>
  </p:cSld>
  <p:clrMapOvr>
    <a:masterClrMapping/>
  </p:clrMapOvr>
  <p:extLst>
    <p:ext uri="{DCECCB84-F9BA-43D5-87BE-67443E8EF086}">
      <p15:sldGuideLst xmlns:p15="http://schemas.microsoft.com/office/powerpoint/2012/main">
        <p15:guide id="1" pos="3840"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mparison Layout">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8550FCA9-5A0F-AC20-0537-F6219057E9A0}"/>
              </a:ext>
            </a:extLst>
          </p:cNvPr>
          <p:cNvSpPr>
            <a:spLocks noGrp="1"/>
          </p:cNvSpPr>
          <p:nvPr>
            <p:ph type="body" idx="1" hasCustomPrompt="1"/>
          </p:nvPr>
        </p:nvSpPr>
        <p:spPr>
          <a:xfrm>
            <a:off x="335360" y="1738312"/>
            <a:ext cx="5157787" cy="365125"/>
          </a:xfrm>
          <a:solidFill>
            <a:srgbClr val="00223F"/>
          </a:solidFill>
        </p:spPr>
        <p:txBody>
          <a:bodyPr anchor="ctr"/>
          <a:lstStyle>
            <a:lvl1pPr marL="0" indent="0">
              <a:buNone/>
              <a:defRPr sz="1200" b="1">
                <a:solidFill>
                  <a:srgbClr val="B6B6FF"/>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C1C6093F-BBEE-7949-A95B-467A0907E239}"/>
              </a:ext>
            </a:extLst>
          </p:cNvPr>
          <p:cNvSpPr>
            <a:spLocks noGrp="1"/>
          </p:cNvSpPr>
          <p:nvPr>
            <p:ph sz="half" idx="2" hasCustomPrompt="1"/>
          </p:nvPr>
        </p:nvSpPr>
        <p:spPr>
          <a:xfrm>
            <a:off x="333772" y="2269172"/>
            <a:ext cx="5157787" cy="3684588"/>
          </a:xfrm>
          <a:ln>
            <a:solidFill>
              <a:srgbClr val="B6B6FF"/>
            </a:solidFill>
          </a:ln>
        </p:spPr>
        <p:txBody>
          <a:bodyPr/>
          <a:lstStyle>
            <a:lvl1pPr>
              <a:buClr>
                <a:srgbClr val="00223F"/>
              </a:buClr>
              <a:buFontTx/>
              <a:buChar char="◙"/>
              <a:defRPr sz="1200">
                <a:solidFill>
                  <a:srgbClr val="00223F"/>
                </a:solidFill>
              </a:defRPr>
            </a:lvl1pPr>
            <a:lvl2pPr>
              <a:buClr>
                <a:srgbClr val="00223F"/>
              </a:buClr>
              <a:buFontTx/>
              <a:buChar char="◙"/>
              <a:defRPr sz="1200">
                <a:solidFill>
                  <a:srgbClr val="00223F"/>
                </a:solidFill>
              </a:defRPr>
            </a:lvl2pPr>
            <a:lvl3pPr>
              <a:buClr>
                <a:srgbClr val="00223F"/>
              </a:buClr>
              <a:buFontTx/>
              <a:buChar char="◙"/>
              <a:defRPr sz="1200">
                <a:solidFill>
                  <a:srgbClr val="00223F"/>
                </a:solidFill>
              </a:defRPr>
            </a:lvl3pPr>
            <a:lvl4pPr>
              <a:buClr>
                <a:srgbClr val="00223F"/>
              </a:buClr>
              <a:buFontTx/>
              <a:buChar char="◙"/>
              <a:defRPr sz="1200">
                <a:solidFill>
                  <a:srgbClr val="00223F"/>
                </a:solidFill>
              </a:defRPr>
            </a:lvl4pPr>
            <a:lvl5pPr>
              <a:buClr>
                <a:srgbClr val="00223F"/>
              </a:buClr>
              <a:buFontTx/>
              <a:buChar char="◙"/>
              <a:defRPr sz="1200">
                <a:solidFill>
                  <a:srgbClr val="00223F"/>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l-GR" dirty="0"/>
          </a:p>
        </p:txBody>
      </p:sp>
      <p:sp>
        <p:nvSpPr>
          <p:cNvPr id="5" name="Text Placeholder 4">
            <a:extLst>
              <a:ext uri="{FF2B5EF4-FFF2-40B4-BE49-F238E27FC236}">
                <a16:creationId xmlns:a16="http://schemas.microsoft.com/office/drawing/2014/main" id="{37D10AA5-6199-AD00-124E-66D7281C8793}"/>
              </a:ext>
            </a:extLst>
          </p:cNvPr>
          <p:cNvSpPr>
            <a:spLocks noGrp="1"/>
          </p:cNvSpPr>
          <p:nvPr>
            <p:ph type="body" sz="quarter" idx="3" hasCustomPrompt="1"/>
          </p:nvPr>
        </p:nvSpPr>
        <p:spPr>
          <a:xfrm>
            <a:off x="6096000" y="1738312"/>
            <a:ext cx="5183188" cy="365125"/>
          </a:xfrm>
          <a:solidFill>
            <a:srgbClr val="00223F"/>
          </a:solidFill>
        </p:spPr>
        <p:txBody>
          <a:bodyPr anchor="ctr"/>
          <a:lstStyle>
            <a:lvl1pPr marL="0" indent="0">
              <a:buNone/>
              <a:defRPr sz="1200" b="1">
                <a:solidFill>
                  <a:srgbClr val="B6B6FF"/>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65610997-C11F-AC40-3B3E-1E9844803ACE}"/>
              </a:ext>
            </a:extLst>
          </p:cNvPr>
          <p:cNvSpPr>
            <a:spLocks noGrp="1"/>
          </p:cNvSpPr>
          <p:nvPr>
            <p:ph sz="quarter" idx="4" hasCustomPrompt="1"/>
          </p:nvPr>
        </p:nvSpPr>
        <p:spPr>
          <a:xfrm>
            <a:off x="6094412" y="2269172"/>
            <a:ext cx="5183188" cy="3684588"/>
          </a:xfrm>
          <a:ln>
            <a:solidFill>
              <a:srgbClr val="B6B6FF"/>
            </a:solidFill>
          </a:ln>
        </p:spPr>
        <p:txBody>
          <a:bodyPr/>
          <a:lstStyle>
            <a:lvl1pPr>
              <a:buClr>
                <a:srgbClr val="00223F"/>
              </a:buClr>
              <a:buFontTx/>
              <a:buChar char="◙"/>
              <a:defRPr sz="1200">
                <a:solidFill>
                  <a:srgbClr val="00223F"/>
                </a:solidFill>
              </a:defRPr>
            </a:lvl1pPr>
            <a:lvl2pPr>
              <a:buClr>
                <a:srgbClr val="00223F"/>
              </a:buClr>
              <a:buFontTx/>
              <a:buChar char="◙"/>
              <a:defRPr sz="1200">
                <a:solidFill>
                  <a:srgbClr val="00223F"/>
                </a:solidFill>
              </a:defRPr>
            </a:lvl2pPr>
            <a:lvl3pPr>
              <a:buClr>
                <a:srgbClr val="00223F"/>
              </a:buClr>
              <a:buFontTx/>
              <a:buChar char="◙"/>
              <a:defRPr sz="1200">
                <a:solidFill>
                  <a:srgbClr val="00223F"/>
                </a:solidFill>
              </a:defRPr>
            </a:lvl3pPr>
            <a:lvl4pPr>
              <a:buClr>
                <a:srgbClr val="00223F"/>
              </a:buClr>
              <a:buFontTx/>
              <a:buChar char="◙"/>
              <a:defRPr sz="1200">
                <a:solidFill>
                  <a:srgbClr val="00223F"/>
                </a:solidFill>
              </a:defRPr>
            </a:lvl4pPr>
            <a:lvl5pPr>
              <a:buClr>
                <a:srgbClr val="00223F"/>
              </a:buClr>
              <a:buFontTx/>
              <a:buChar char="◙"/>
              <a:defRPr sz="1200">
                <a:solidFill>
                  <a:srgbClr val="00223F"/>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l-GR" dirty="0"/>
          </a:p>
        </p:txBody>
      </p:sp>
      <p:sp>
        <p:nvSpPr>
          <p:cNvPr id="7" name="Title 1">
            <a:extLst>
              <a:ext uri="{FF2B5EF4-FFF2-40B4-BE49-F238E27FC236}">
                <a16:creationId xmlns:a16="http://schemas.microsoft.com/office/drawing/2014/main" id="{F84FA668-94E7-7FA3-A697-5461D32365C7}"/>
              </a:ext>
            </a:extLst>
          </p:cNvPr>
          <p:cNvSpPr>
            <a:spLocks noGrp="1"/>
          </p:cNvSpPr>
          <p:nvPr>
            <p:ph type="title"/>
          </p:nvPr>
        </p:nvSpPr>
        <p:spPr>
          <a:xfrm>
            <a:off x="335361" y="460059"/>
            <a:ext cx="9793087" cy="492441"/>
          </a:xfrm>
        </p:spPr>
        <p:txBody>
          <a:bodyPr anchor="b"/>
          <a:lstStyle>
            <a:lvl1pPr>
              <a:defRPr sz="2400">
                <a:solidFill>
                  <a:srgbClr val="00223F"/>
                </a:solidFill>
              </a:defRPr>
            </a:lvl1pPr>
          </a:lstStyle>
          <a:p>
            <a:endParaRPr lang="el-GR" dirty="0"/>
          </a:p>
        </p:txBody>
      </p:sp>
    </p:spTree>
    <p:extLst>
      <p:ext uri="{BB962C8B-B14F-4D97-AF65-F5344CB8AC3E}">
        <p14:creationId xmlns:p14="http://schemas.microsoft.com/office/powerpoint/2010/main" val="7512277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wo Column Images Layout">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B78202E0-DD34-AB98-D800-EB29D32CE734}"/>
              </a:ext>
            </a:extLst>
          </p:cNvPr>
          <p:cNvSpPr>
            <a:spLocks noGrp="1"/>
          </p:cNvSpPr>
          <p:nvPr>
            <p:ph type="pic" sz="quarter" idx="13"/>
          </p:nvPr>
        </p:nvSpPr>
        <p:spPr>
          <a:xfrm>
            <a:off x="1325435" y="1124744"/>
            <a:ext cx="4671060" cy="3742055"/>
          </a:xfrm>
          <a:ln w="28575">
            <a:solidFill>
              <a:srgbClr val="B6B6FF"/>
            </a:solidFill>
          </a:ln>
        </p:spPr>
        <p:txBody>
          <a:bodyPr/>
          <a:lstStyle/>
          <a:p>
            <a:endParaRPr lang="el-GR" dirty="0"/>
          </a:p>
        </p:txBody>
      </p:sp>
      <p:sp>
        <p:nvSpPr>
          <p:cNvPr id="12" name="Text Placeholder 11">
            <a:extLst>
              <a:ext uri="{FF2B5EF4-FFF2-40B4-BE49-F238E27FC236}">
                <a16:creationId xmlns:a16="http://schemas.microsoft.com/office/drawing/2014/main" id="{960B671F-02EC-374B-3608-322A44E1AFC5}"/>
              </a:ext>
            </a:extLst>
          </p:cNvPr>
          <p:cNvSpPr>
            <a:spLocks noGrp="1"/>
          </p:cNvSpPr>
          <p:nvPr>
            <p:ph type="body" sz="quarter" idx="15" hasCustomPrompt="1"/>
          </p:nvPr>
        </p:nvSpPr>
        <p:spPr>
          <a:xfrm>
            <a:off x="1325752" y="4942682"/>
            <a:ext cx="4670425" cy="563562"/>
          </a:xfrm>
          <a:solidFill>
            <a:srgbClr val="00223F"/>
          </a:solidFill>
        </p:spPr>
        <p:txBody>
          <a:bodyPr anchor="ctr"/>
          <a:lstStyle>
            <a:lvl1pPr>
              <a:buNone/>
              <a:defRPr sz="1200">
                <a:solidFill>
                  <a:srgbClr val="B6B6FF"/>
                </a:solidFill>
              </a:defRPr>
            </a:lvl1pPr>
            <a:lvl2pPr>
              <a:defRPr sz="1200"/>
            </a:lvl2pPr>
            <a:lvl3pPr>
              <a:defRPr sz="1200"/>
            </a:lvl3pPr>
            <a:lvl4pPr>
              <a:defRPr sz="1200"/>
            </a:lvl4pPr>
            <a:lvl5pPr>
              <a:defRPr sz="1200"/>
            </a:lvl5pPr>
          </a:lstStyle>
          <a:p>
            <a:pPr lvl="0"/>
            <a:r>
              <a:rPr lang="en-US" dirty="0"/>
              <a:t>Place your text here</a:t>
            </a:r>
            <a:endParaRPr lang="el-GR" dirty="0"/>
          </a:p>
        </p:txBody>
      </p:sp>
      <p:sp>
        <p:nvSpPr>
          <p:cNvPr id="13" name="Picture Placeholder 6">
            <a:extLst>
              <a:ext uri="{FF2B5EF4-FFF2-40B4-BE49-F238E27FC236}">
                <a16:creationId xmlns:a16="http://schemas.microsoft.com/office/drawing/2014/main" id="{A4F7634F-03B0-06BD-8ACB-527358B27A7D}"/>
              </a:ext>
            </a:extLst>
          </p:cNvPr>
          <p:cNvSpPr>
            <a:spLocks noGrp="1"/>
          </p:cNvSpPr>
          <p:nvPr>
            <p:ph type="pic" sz="quarter" idx="16"/>
          </p:nvPr>
        </p:nvSpPr>
        <p:spPr>
          <a:xfrm>
            <a:off x="6240016" y="1124744"/>
            <a:ext cx="4671060" cy="3742055"/>
          </a:xfrm>
          <a:ln w="28575">
            <a:solidFill>
              <a:srgbClr val="B6B6FF"/>
            </a:solidFill>
          </a:ln>
        </p:spPr>
        <p:txBody>
          <a:bodyPr/>
          <a:lstStyle/>
          <a:p>
            <a:endParaRPr lang="el-GR" dirty="0"/>
          </a:p>
        </p:txBody>
      </p:sp>
      <p:sp>
        <p:nvSpPr>
          <p:cNvPr id="14" name="Text Placeholder 11">
            <a:extLst>
              <a:ext uri="{FF2B5EF4-FFF2-40B4-BE49-F238E27FC236}">
                <a16:creationId xmlns:a16="http://schemas.microsoft.com/office/drawing/2014/main" id="{28FDE86C-82B6-57EA-6A7E-06045B48D205}"/>
              </a:ext>
            </a:extLst>
          </p:cNvPr>
          <p:cNvSpPr>
            <a:spLocks noGrp="1"/>
          </p:cNvSpPr>
          <p:nvPr>
            <p:ph type="body" sz="quarter" idx="17" hasCustomPrompt="1"/>
          </p:nvPr>
        </p:nvSpPr>
        <p:spPr>
          <a:xfrm>
            <a:off x="6240333" y="4942682"/>
            <a:ext cx="4670425" cy="563562"/>
          </a:xfrm>
          <a:solidFill>
            <a:srgbClr val="00223F"/>
          </a:solidFill>
        </p:spPr>
        <p:txBody>
          <a:bodyPr anchor="ctr"/>
          <a:lstStyle>
            <a:lvl1pPr>
              <a:buNone/>
              <a:defRPr sz="1200">
                <a:solidFill>
                  <a:srgbClr val="B6B6FF"/>
                </a:solidFill>
              </a:defRPr>
            </a:lvl1pPr>
            <a:lvl2pPr>
              <a:defRPr sz="1200"/>
            </a:lvl2pPr>
            <a:lvl3pPr>
              <a:defRPr sz="1200"/>
            </a:lvl3pPr>
            <a:lvl4pPr>
              <a:defRPr sz="1200"/>
            </a:lvl4pPr>
            <a:lvl5pPr>
              <a:defRPr sz="1200"/>
            </a:lvl5pPr>
          </a:lstStyle>
          <a:p>
            <a:pPr lvl="0"/>
            <a:r>
              <a:rPr lang="en-US" dirty="0"/>
              <a:t>Place your text here</a:t>
            </a:r>
            <a:endParaRPr lang="el-GR" dirty="0"/>
          </a:p>
        </p:txBody>
      </p:sp>
    </p:spTree>
    <p:extLst>
      <p:ext uri="{BB962C8B-B14F-4D97-AF65-F5344CB8AC3E}">
        <p14:creationId xmlns:p14="http://schemas.microsoft.com/office/powerpoint/2010/main" val="424950221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Title, Text &amp; Bullets Layout">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11F1BA1A-158F-D0BB-5EAD-07E051383CAC}"/>
              </a:ext>
            </a:extLst>
          </p:cNvPr>
          <p:cNvSpPr/>
          <p:nvPr userDrawn="1"/>
        </p:nvSpPr>
        <p:spPr>
          <a:xfrm>
            <a:off x="0" y="0"/>
            <a:ext cx="12192000" cy="6165304"/>
          </a:xfrm>
          <a:prstGeom prst="rect">
            <a:avLst/>
          </a:prstGeom>
          <a:solidFill>
            <a:srgbClr val="B6B6FF"/>
          </a:solidFill>
          <a:ln>
            <a:solidFill>
              <a:srgbClr val="B6B6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l-GR"/>
          </a:p>
        </p:txBody>
      </p:sp>
      <p:sp>
        <p:nvSpPr>
          <p:cNvPr id="2" name="Title 1">
            <a:extLst>
              <a:ext uri="{FF2B5EF4-FFF2-40B4-BE49-F238E27FC236}">
                <a16:creationId xmlns:a16="http://schemas.microsoft.com/office/drawing/2014/main" id="{BAEBE6D4-F7CB-BAC7-7443-A7E8AC30E7FD}"/>
              </a:ext>
            </a:extLst>
          </p:cNvPr>
          <p:cNvSpPr>
            <a:spLocks noGrp="1"/>
          </p:cNvSpPr>
          <p:nvPr>
            <p:ph type="title"/>
          </p:nvPr>
        </p:nvSpPr>
        <p:spPr>
          <a:xfrm>
            <a:off x="369416" y="987425"/>
            <a:ext cx="5006504" cy="1069975"/>
          </a:xfrm>
        </p:spPr>
        <p:txBody>
          <a:bodyPr anchor="t"/>
          <a:lstStyle>
            <a:lvl1pPr>
              <a:defRPr sz="2400">
                <a:solidFill>
                  <a:srgbClr val="00223F"/>
                </a:solidFill>
              </a:defRPr>
            </a:lvl1pPr>
          </a:lstStyle>
          <a:p>
            <a:endParaRPr lang="el-GR" dirty="0"/>
          </a:p>
        </p:txBody>
      </p:sp>
      <p:sp>
        <p:nvSpPr>
          <p:cNvPr id="3" name="Content Placeholder 2">
            <a:extLst>
              <a:ext uri="{FF2B5EF4-FFF2-40B4-BE49-F238E27FC236}">
                <a16:creationId xmlns:a16="http://schemas.microsoft.com/office/drawing/2014/main" id="{B0ADBDFA-5849-EBA2-AFD5-41792DEA3D47}"/>
              </a:ext>
            </a:extLst>
          </p:cNvPr>
          <p:cNvSpPr>
            <a:spLocks noGrp="1"/>
          </p:cNvSpPr>
          <p:nvPr>
            <p:ph idx="1" hasCustomPrompt="1"/>
          </p:nvPr>
        </p:nvSpPr>
        <p:spPr>
          <a:xfrm>
            <a:off x="6023992" y="987425"/>
            <a:ext cx="5798592" cy="4873625"/>
          </a:xfrm>
        </p:spPr>
        <p:txBody>
          <a:bodyPr/>
          <a:lstStyle>
            <a:lvl1pPr>
              <a:buClr>
                <a:srgbClr val="00223F"/>
              </a:buClr>
              <a:buFontTx/>
              <a:buChar char="◙"/>
              <a:defRPr sz="1200">
                <a:solidFill>
                  <a:srgbClr val="00223F"/>
                </a:solidFill>
              </a:defRPr>
            </a:lvl1pPr>
            <a:lvl2pPr>
              <a:buClr>
                <a:srgbClr val="00223F"/>
              </a:buClr>
              <a:buFontTx/>
              <a:buChar char="◙"/>
              <a:defRPr sz="1200">
                <a:solidFill>
                  <a:srgbClr val="00223F"/>
                </a:solidFill>
              </a:defRPr>
            </a:lvl2pPr>
            <a:lvl3pPr>
              <a:buClr>
                <a:srgbClr val="00223F"/>
              </a:buClr>
              <a:buFontTx/>
              <a:buChar char="◙"/>
              <a:defRPr sz="1200">
                <a:solidFill>
                  <a:srgbClr val="00223F"/>
                </a:solidFill>
              </a:defRPr>
            </a:lvl3pPr>
            <a:lvl4pPr>
              <a:buClr>
                <a:srgbClr val="00223F"/>
              </a:buClr>
              <a:buFontTx/>
              <a:buChar char="◙"/>
              <a:defRPr sz="1200">
                <a:solidFill>
                  <a:srgbClr val="00223F"/>
                </a:solidFill>
              </a:defRPr>
            </a:lvl4pPr>
            <a:lvl5pPr>
              <a:buClr>
                <a:srgbClr val="00223F"/>
              </a:buClr>
              <a:buFontTx/>
              <a:buChar char="◙"/>
              <a:defRPr sz="1200">
                <a:solidFill>
                  <a:srgbClr val="00223F"/>
                </a:solidFill>
              </a:defRPr>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l-GR" dirty="0"/>
          </a:p>
        </p:txBody>
      </p:sp>
      <p:sp>
        <p:nvSpPr>
          <p:cNvPr id="4" name="Text Placeholder 3">
            <a:extLst>
              <a:ext uri="{FF2B5EF4-FFF2-40B4-BE49-F238E27FC236}">
                <a16:creationId xmlns:a16="http://schemas.microsoft.com/office/drawing/2014/main" id="{EBBB13BD-E3FA-2239-BDCC-C98B08900975}"/>
              </a:ext>
            </a:extLst>
          </p:cNvPr>
          <p:cNvSpPr>
            <a:spLocks noGrp="1"/>
          </p:cNvSpPr>
          <p:nvPr>
            <p:ph type="body" sz="half" idx="2"/>
          </p:nvPr>
        </p:nvSpPr>
        <p:spPr>
          <a:xfrm>
            <a:off x="369416" y="2209800"/>
            <a:ext cx="5006504" cy="3659188"/>
          </a:xfrm>
        </p:spPr>
        <p:txBody>
          <a:bodyPr/>
          <a:lstStyle>
            <a:lvl1pPr marL="0" indent="0">
              <a:buNone/>
              <a:defRPr sz="1200">
                <a:solidFill>
                  <a:srgbClr val="00223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pic>
        <p:nvPicPr>
          <p:cNvPr id="9" name="Picture 8">
            <a:extLst>
              <a:ext uri="{FF2B5EF4-FFF2-40B4-BE49-F238E27FC236}">
                <a16:creationId xmlns:a16="http://schemas.microsoft.com/office/drawing/2014/main" id="{0CA45A5B-CB56-7883-F2BE-7244BD5370B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451742" y="333095"/>
            <a:ext cx="370843" cy="370727"/>
          </a:xfrm>
          <a:prstGeom prst="rect">
            <a:avLst/>
          </a:prstGeom>
        </p:spPr>
      </p:pic>
    </p:spTree>
    <p:extLst>
      <p:ext uri="{BB962C8B-B14F-4D97-AF65-F5344CB8AC3E}">
        <p14:creationId xmlns:p14="http://schemas.microsoft.com/office/powerpoint/2010/main" val="108186541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Partnership Layout">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EB25ED5D-109C-BEEA-BA5E-AB29E91E47C7}"/>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434550" y="483554"/>
            <a:ext cx="3322899" cy="936104"/>
          </a:xfrm>
          <a:prstGeom prst="rect">
            <a:avLst/>
          </a:prstGeom>
        </p:spPr>
      </p:pic>
      <p:pic>
        <p:nvPicPr>
          <p:cNvPr id="2" name="Picture 2">
            <a:extLst>
              <a:ext uri="{FF2B5EF4-FFF2-40B4-BE49-F238E27FC236}">
                <a16:creationId xmlns:a16="http://schemas.microsoft.com/office/drawing/2014/main" id="{D02A57B5-7650-90F4-7D7B-DCC8A59EF1C5}"/>
              </a:ext>
            </a:extLst>
          </p:cNvPr>
          <p:cNvPicPr>
            <a:picLocks noChangeAspect="1"/>
          </p:cNvPicPr>
          <p:nvPr userDrawn="1"/>
        </p:nvPicPr>
        <p:blipFill>
          <a:blip r:embed="rId3"/>
          <a:srcRect b="67908"/>
          <a:stretch>
            <a:fillRect/>
          </a:stretch>
        </p:blipFill>
        <p:spPr>
          <a:xfrm>
            <a:off x="1739516" y="1960130"/>
            <a:ext cx="8712968" cy="847456"/>
          </a:xfrm>
          <a:prstGeom prst="rect">
            <a:avLst/>
          </a:prstGeom>
          <a:noFill/>
          <a:ln cap="flat">
            <a:noFill/>
          </a:ln>
        </p:spPr>
      </p:pic>
      <p:pic>
        <p:nvPicPr>
          <p:cNvPr id="20" name="Picture 19">
            <a:extLst>
              <a:ext uri="{FF2B5EF4-FFF2-40B4-BE49-F238E27FC236}">
                <a16:creationId xmlns:a16="http://schemas.microsoft.com/office/drawing/2014/main" id="{A971C201-86D9-DBDC-0F88-2446A5DC5582}"/>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2351584" y="2996952"/>
            <a:ext cx="7404484" cy="2751330"/>
          </a:xfrm>
          <a:prstGeom prst="rect">
            <a:avLst/>
          </a:prstGeom>
        </p:spPr>
      </p:pic>
      <p:sp>
        <p:nvSpPr>
          <p:cNvPr id="4" name="Rectangle 7">
            <a:extLst>
              <a:ext uri="{FF2B5EF4-FFF2-40B4-BE49-F238E27FC236}">
                <a16:creationId xmlns:a16="http://schemas.microsoft.com/office/drawing/2014/main" id="{0EB7E63C-1101-F7CA-B605-6B94D8BEB26E}"/>
              </a:ext>
            </a:extLst>
          </p:cNvPr>
          <p:cNvSpPr/>
          <p:nvPr userDrawn="1"/>
        </p:nvSpPr>
        <p:spPr>
          <a:xfrm>
            <a:off x="0" y="6176964"/>
            <a:ext cx="12192000" cy="681036"/>
          </a:xfrm>
          <a:prstGeom prst="rect">
            <a:avLst/>
          </a:prstGeom>
          <a:solidFill>
            <a:srgbClr val="00223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l-GR">
              <a:solidFill>
                <a:srgbClr val="00223F"/>
              </a:solidFill>
            </a:endParaRPr>
          </a:p>
        </p:txBody>
      </p:sp>
      <p:pic>
        <p:nvPicPr>
          <p:cNvPr id="6" name="Picture 9">
            <a:extLst>
              <a:ext uri="{FF2B5EF4-FFF2-40B4-BE49-F238E27FC236}">
                <a16:creationId xmlns:a16="http://schemas.microsoft.com/office/drawing/2014/main" id="{EDC29E87-20FC-F69F-ECDF-39A79E9F7425}"/>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9429297" y="6309320"/>
            <a:ext cx="1994202" cy="444285"/>
          </a:xfrm>
          <a:prstGeom prst="rect">
            <a:avLst/>
          </a:prstGeom>
        </p:spPr>
      </p:pic>
      <p:pic>
        <p:nvPicPr>
          <p:cNvPr id="8" name="Picture 12">
            <a:extLst>
              <a:ext uri="{FF2B5EF4-FFF2-40B4-BE49-F238E27FC236}">
                <a16:creationId xmlns:a16="http://schemas.microsoft.com/office/drawing/2014/main" id="{81058AC4-290F-8D9A-AD95-733F613335D4}"/>
              </a:ext>
            </a:extLst>
          </p:cNvPr>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816766" y="6319383"/>
            <a:ext cx="1314153" cy="370128"/>
          </a:xfrm>
          <a:prstGeom prst="rect">
            <a:avLst/>
          </a:prstGeom>
        </p:spPr>
      </p:pic>
    </p:spTree>
    <p:extLst>
      <p:ext uri="{BB962C8B-B14F-4D97-AF65-F5344CB8AC3E}">
        <p14:creationId xmlns:p14="http://schemas.microsoft.com/office/powerpoint/2010/main" val="8336616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Outro Slide">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20CAC556-CC99-12E8-0C15-F1525C3F20D8}"/>
              </a:ext>
            </a:extLst>
          </p:cNvPr>
          <p:cNvSpPr/>
          <p:nvPr userDrawn="1"/>
        </p:nvSpPr>
        <p:spPr>
          <a:xfrm>
            <a:off x="-96688" y="0"/>
            <a:ext cx="12288688" cy="6885384"/>
          </a:xfrm>
          <a:prstGeom prst="rect">
            <a:avLst/>
          </a:prstGeom>
          <a:solidFill>
            <a:srgbClr val="00223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l-GR" dirty="0"/>
          </a:p>
        </p:txBody>
      </p:sp>
      <p:pic>
        <p:nvPicPr>
          <p:cNvPr id="11" name="Picture 10">
            <a:extLst>
              <a:ext uri="{FF2B5EF4-FFF2-40B4-BE49-F238E27FC236}">
                <a16:creationId xmlns:a16="http://schemas.microsoft.com/office/drawing/2014/main" id="{87EFA5D3-4D72-54E8-F7A2-92FD17D9E426}"/>
              </a:ext>
            </a:extLst>
          </p:cNvPr>
          <p:cNvPicPr>
            <a:picLocks noChangeAspect="1"/>
          </p:cNvPicPr>
          <p:nvPr userDrawn="1"/>
        </p:nvPicPr>
        <p:blipFill>
          <a:blip r:embed="rId2">
            <a:alphaModFix amt="20000"/>
            <a:extLst>
              <a:ext uri="{28A0092B-C50C-407E-A947-70E740481C1C}">
                <a14:useLocalDpi xmlns:a14="http://schemas.microsoft.com/office/drawing/2010/main" val="0"/>
              </a:ext>
            </a:extLst>
          </a:blip>
          <a:srcRect l="-6979" r="-7600"/>
          <a:stretch>
            <a:fillRect/>
          </a:stretch>
        </p:blipFill>
        <p:spPr>
          <a:xfrm>
            <a:off x="-1248816" y="-105953"/>
            <a:ext cx="14449397" cy="7097289"/>
          </a:xfrm>
          <a:prstGeom prst="rect">
            <a:avLst/>
          </a:prstGeom>
        </p:spPr>
      </p:pic>
      <p:sp>
        <p:nvSpPr>
          <p:cNvPr id="9" name="TextBox 8">
            <a:extLst>
              <a:ext uri="{FF2B5EF4-FFF2-40B4-BE49-F238E27FC236}">
                <a16:creationId xmlns:a16="http://schemas.microsoft.com/office/drawing/2014/main" id="{E521FCA4-9475-63E7-4EA6-65779982C559}"/>
              </a:ext>
            </a:extLst>
          </p:cNvPr>
          <p:cNvSpPr txBox="1"/>
          <p:nvPr userDrawn="1"/>
        </p:nvSpPr>
        <p:spPr>
          <a:xfrm>
            <a:off x="911424" y="6156593"/>
            <a:ext cx="6696744" cy="5847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 dirty="0">
                <a:solidFill>
                  <a:schemeClr val="bg1"/>
                </a:solidFill>
                <a:latin typeface="Nunito Sans Normal" pitchFamily="2" charset="0"/>
              </a:rPr>
              <a:t>Funded by the European Union. Views and opinions expressed are however those of the author(s) only and do not necessarily reflect those of the European Union or the European Climate, Infrastructure and Environment Executive Agency CINEA. Neither the European Union nor the granting authority can be held responsible for them.</a:t>
            </a:r>
          </a:p>
          <a:p>
            <a:endParaRPr lang="el-GR" sz="800" dirty="0">
              <a:solidFill>
                <a:schemeClr val="bg1"/>
              </a:solidFill>
              <a:latin typeface="Nunito Sans Normal" pitchFamily="2" charset="0"/>
            </a:endParaRPr>
          </a:p>
        </p:txBody>
      </p:sp>
      <p:pic>
        <p:nvPicPr>
          <p:cNvPr id="10" name="Picture 9">
            <a:extLst>
              <a:ext uri="{FF2B5EF4-FFF2-40B4-BE49-F238E27FC236}">
                <a16:creationId xmlns:a16="http://schemas.microsoft.com/office/drawing/2014/main" id="{F93BB51F-AC67-C682-BE48-399A44D40C78}"/>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983432" y="5685629"/>
            <a:ext cx="1894541" cy="422081"/>
          </a:xfrm>
          <a:prstGeom prst="rect">
            <a:avLst/>
          </a:prstGeom>
        </p:spPr>
      </p:pic>
      <p:pic>
        <p:nvPicPr>
          <p:cNvPr id="7" name="Picture 6">
            <a:extLst>
              <a:ext uri="{FF2B5EF4-FFF2-40B4-BE49-F238E27FC236}">
                <a16:creationId xmlns:a16="http://schemas.microsoft.com/office/drawing/2014/main" id="{993BD77F-D195-2EC7-AD13-FE3014854A1F}"/>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978062" y="895452"/>
            <a:ext cx="3672408" cy="1034565"/>
          </a:xfrm>
          <a:prstGeom prst="rect">
            <a:avLst/>
          </a:prstGeom>
        </p:spPr>
      </p:pic>
    </p:spTree>
    <p:extLst>
      <p:ext uri="{BB962C8B-B14F-4D97-AF65-F5344CB8AC3E}">
        <p14:creationId xmlns:p14="http://schemas.microsoft.com/office/powerpoint/2010/main" val="425721024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theme" Target="../theme/theme1.xml"/><Relationship Id="rId12" Type="http://schemas.openxmlformats.org/officeDocument/2006/relationships/image" Target="../media/image1.png"/><Relationship Id="rId13" Type="http://schemas.openxmlformats.org/officeDocument/2006/relationships/image" Target="../media/image2.png"/><Relationship Id="rId14" Type="http://schemas.openxmlformats.org/officeDocument/2006/relationships/image" Target="../media/image3.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rotWithShape="1">
          <a:gsLst>
            <a:gs pos="0">
              <a:schemeClr val="bg1">
                <a:tint val="93000"/>
                <a:satMod val="150000"/>
                <a:shade val="98000"/>
                <a:lumMod val="102000"/>
              </a:schemeClr>
            </a:gs>
            <a:gs pos="57000">
              <a:schemeClr val="bg1">
                <a:alpha val="0"/>
              </a:schemeClr>
            </a:gs>
            <a:gs pos="100000">
              <a:srgbClr val="B6B6FF"/>
            </a:gs>
          </a:gsLst>
          <a:lin ang="5400000" scaled="0"/>
        </a:gra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3B66E4E-628C-D0D9-576C-4728E7D3250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endParaRPr lang="el-GR" dirty="0"/>
          </a:p>
        </p:txBody>
      </p:sp>
      <p:sp>
        <p:nvSpPr>
          <p:cNvPr id="3" name="Text Placeholder 2">
            <a:extLst>
              <a:ext uri="{FF2B5EF4-FFF2-40B4-BE49-F238E27FC236}">
                <a16:creationId xmlns:a16="http://schemas.microsoft.com/office/drawing/2014/main" id="{F645484B-A74A-6DCF-BE8E-8C441EDE7394}"/>
              </a:ext>
            </a:extLst>
          </p:cNvPr>
          <p:cNvSpPr>
            <a:spLocks noGrp="1"/>
          </p:cNvSpPr>
          <p:nvPr>
            <p:ph type="body" idx="1"/>
          </p:nvPr>
        </p:nvSpPr>
        <p:spPr>
          <a:xfrm>
            <a:off x="838200" y="1825625"/>
            <a:ext cx="10515600" cy="3763615"/>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l-GR" dirty="0"/>
          </a:p>
        </p:txBody>
      </p:sp>
      <p:sp>
        <p:nvSpPr>
          <p:cNvPr id="4" name="Date Placeholder 3">
            <a:extLst>
              <a:ext uri="{FF2B5EF4-FFF2-40B4-BE49-F238E27FC236}">
                <a16:creationId xmlns:a16="http://schemas.microsoft.com/office/drawing/2014/main" id="{0C36A29A-CF1F-00EC-52CC-99F4A7EB621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DB586311-41B9-472B-B1E5-E5414F3A0823}" type="datetimeFigureOut">
              <a:rPr lang="el-GR" smtClean="0"/>
              <a:t>29/7/2026</a:t>
            </a:fld>
            <a:endParaRPr lang="el-GR"/>
          </a:p>
        </p:txBody>
      </p:sp>
      <p:sp>
        <p:nvSpPr>
          <p:cNvPr id="5" name="Footer Placeholder 4">
            <a:extLst>
              <a:ext uri="{FF2B5EF4-FFF2-40B4-BE49-F238E27FC236}">
                <a16:creationId xmlns:a16="http://schemas.microsoft.com/office/drawing/2014/main" id="{9D197D3C-3FFE-7A91-7D10-B213F5403DC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l-GR"/>
          </a:p>
        </p:txBody>
      </p:sp>
      <p:sp>
        <p:nvSpPr>
          <p:cNvPr id="6" name="Slide Number Placeholder 5">
            <a:extLst>
              <a:ext uri="{FF2B5EF4-FFF2-40B4-BE49-F238E27FC236}">
                <a16:creationId xmlns:a16="http://schemas.microsoft.com/office/drawing/2014/main" id="{063A150F-DBB1-7554-09C0-D3DEE81FA8B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6996290-2516-4128-8D62-37CFAE1D9C60}" type="slidenum">
              <a:rPr lang="el-GR" smtClean="0"/>
              <a:t>‹#›</a:t>
            </a:fld>
            <a:endParaRPr lang="el-GR"/>
          </a:p>
        </p:txBody>
      </p:sp>
      <p:sp>
        <p:nvSpPr>
          <p:cNvPr id="8" name="Rectangle 7">
            <a:extLst>
              <a:ext uri="{FF2B5EF4-FFF2-40B4-BE49-F238E27FC236}">
                <a16:creationId xmlns:a16="http://schemas.microsoft.com/office/drawing/2014/main" id="{546EE572-C3A3-8C6D-1D75-E09B49E737DF}"/>
              </a:ext>
            </a:extLst>
          </p:cNvPr>
          <p:cNvSpPr/>
          <p:nvPr userDrawn="1"/>
        </p:nvSpPr>
        <p:spPr>
          <a:xfrm>
            <a:off x="0" y="6176964"/>
            <a:ext cx="12192000" cy="681036"/>
          </a:xfrm>
          <a:prstGeom prst="rect">
            <a:avLst/>
          </a:prstGeom>
          <a:solidFill>
            <a:srgbClr val="00223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l-GR">
              <a:solidFill>
                <a:srgbClr val="00223F"/>
              </a:solidFill>
            </a:endParaRPr>
          </a:p>
        </p:txBody>
      </p:sp>
      <p:pic>
        <p:nvPicPr>
          <p:cNvPr id="10" name="Picture 9">
            <a:extLst>
              <a:ext uri="{FF2B5EF4-FFF2-40B4-BE49-F238E27FC236}">
                <a16:creationId xmlns:a16="http://schemas.microsoft.com/office/drawing/2014/main" id="{36793C7E-D2BF-D9F7-C84F-090B4E921083}"/>
              </a:ext>
            </a:extLst>
          </p:cNvPr>
          <p:cNvPicPr>
            <a:picLocks noChangeAspect="1"/>
          </p:cNvPicPr>
          <p:nvPr userDrawn="1"/>
        </p:nvPicPr>
        <p:blipFill>
          <a:blip r:embed="rId12">
            <a:extLst>
              <a:ext uri="{28A0092B-C50C-407E-A947-70E740481C1C}">
                <a14:useLocalDpi xmlns:a14="http://schemas.microsoft.com/office/drawing/2010/main" val="0"/>
              </a:ext>
            </a:extLst>
          </a:blip>
          <a:stretch>
            <a:fillRect/>
          </a:stretch>
        </p:blipFill>
        <p:spPr>
          <a:xfrm>
            <a:off x="9429297" y="6309320"/>
            <a:ext cx="1994202" cy="444285"/>
          </a:xfrm>
          <a:prstGeom prst="rect">
            <a:avLst/>
          </a:prstGeom>
        </p:spPr>
      </p:pic>
      <p:pic>
        <p:nvPicPr>
          <p:cNvPr id="13" name="Picture 12">
            <a:extLst>
              <a:ext uri="{FF2B5EF4-FFF2-40B4-BE49-F238E27FC236}">
                <a16:creationId xmlns:a16="http://schemas.microsoft.com/office/drawing/2014/main" id="{46F08BC3-CA24-6BDE-AF7B-4454E36B05F0}"/>
              </a:ext>
            </a:extLst>
          </p:cNvPr>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816766" y="6319383"/>
            <a:ext cx="1314153" cy="370128"/>
          </a:xfrm>
          <a:prstGeom prst="rect">
            <a:avLst/>
          </a:prstGeom>
        </p:spPr>
      </p:pic>
      <p:pic>
        <p:nvPicPr>
          <p:cNvPr id="9" name="Picture 7">
            <a:extLst>
              <a:ext uri="{FF2B5EF4-FFF2-40B4-BE49-F238E27FC236}">
                <a16:creationId xmlns:a16="http://schemas.microsoft.com/office/drawing/2014/main" id="{C01F0AC4-465F-8730-EF8C-8CC96207539D}"/>
              </a:ext>
            </a:extLst>
          </p:cNvPr>
          <p:cNvPicPr>
            <a:picLocks noChangeAspect="1"/>
          </p:cNvPicPr>
          <p:nvPr userDrawn="1"/>
        </p:nvPicPr>
        <p:blipFill>
          <a:blip r:embed="rId14">
            <a:extLst>
              <a:ext uri="{28A0092B-C50C-407E-A947-70E740481C1C}">
                <a14:useLocalDpi xmlns:a14="http://schemas.microsoft.com/office/drawing/2010/main" val="0"/>
              </a:ext>
            </a:extLst>
          </a:blip>
          <a:stretch>
            <a:fillRect/>
          </a:stretch>
        </p:blipFill>
        <p:spPr>
          <a:xfrm>
            <a:off x="11451742" y="333095"/>
            <a:ext cx="370843" cy="370727"/>
          </a:xfrm>
          <a:prstGeom prst="rect">
            <a:avLst/>
          </a:prstGeom>
        </p:spPr>
      </p:pic>
    </p:spTree>
    <p:extLst>
      <p:ext uri="{BB962C8B-B14F-4D97-AF65-F5344CB8AC3E}">
        <p14:creationId xmlns:p14="http://schemas.microsoft.com/office/powerpoint/2010/main" val="1597595953"/>
      </p:ext>
    </p:extLst>
  </p:cSld>
  <p:clrMap bg1="lt1" tx1="dk1" bg2="lt2" tx2="dk2" accent1="accent1" accent2="accent2" accent3="accent3" accent4="accent4" accent5="accent5" accent6="accent6" hlink="hlink" folHlink="folHlink"/>
  <p:sldLayoutIdLst>
    <p:sldLayoutId id="2147483649" r:id="rId1"/>
    <p:sldLayoutId id="2147483660" r:id="rId2"/>
    <p:sldLayoutId id="2147483650" r:id="rId3"/>
    <p:sldLayoutId id="2147483651" r:id="rId4"/>
    <p:sldLayoutId id="2147483652" r:id="rId5"/>
    <p:sldLayoutId id="2147483653" r:id="rId6"/>
    <p:sldLayoutId id="2147483654" r:id="rId7"/>
    <p:sldLayoutId id="2147483656" r:id="rId8"/>
    <p:sldLayoutId id="2147483661" r:id="rId9"/>
    <p:sldLayoutId id="2147483662" r:id="rId10"/>
  </p:sldLayoutIdLst>
  <p:txStyles>
    <p:titleStyle>
      <a:lvl1pPr algn="l" defTabSz="914400" rtl="0" eaLnBrk="1" latinLnBrk="0" hangingPunct="1">
        <a:lnSpc>
          <a:spcPct val="90000"/>
        </a:lnSpc>
        <a:spcBef>
          <a:spcPct val="0"/>
        </a:spcBef>
        <a:buNone/>
        <a:defRPr sz="2400" kern="1200">
          <a:solidFill>
            <a:schemeClr val="tx1"/>
          </a:solidFill>
          <a:latin typeface="Nunito Medium" pitchFamily="2"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Nunito Sans Normal" pitchFamily="2"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Nunito Sans Normal" pitchFamily="2"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Nunito Sans Normal" pitchFamily="2"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Nunito Sans Normal" pitchFamily="2"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Nunito Sans Normal"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l-G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0.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Where the rain goes</a:t>
            </a:r>
          </a:p>
        </p:txBody>
      </p:sp>
      <p:sp>
        <p:nvSpPr>
          <p:cNvPr id="3" name="TextBox 2"/>
          <p:cNvSpPr txBox="1"/>
          <p:nvPr/>
        </p:nvSpPr>
        <p:spPr>
          <a:xfrm>
            <a:off x="822960" y="4663440"/>
            <a:ext cx="6400800" cy="1463040"/>
          </a:xfrm>
          <a:prstGeom prst="rect">
            <a:avLst/>
          </a:prstGeom>
          <a:noFill/>
        </p:spPr>
        <p:txBody>
          <a:bodyPr wrap="square">
            <a:spAutoFit/>
          </a:bodyPr>
          <a:lstStyle/>
          <a:p>
            <a:pPr>
              <a:spcAft>
                <a:spcPts val="1000"/>
              </a:spcAft>
              <a:buNone/>
            </a:pPr>
            <a:r>
              <a:rPr sz="1500" b="0">
                <a:solidFill>
                  <a:srgbClr val="0E2841"/>
                </a:solidFill>
              </a:rPr>
              <a:t>Modelling the Al-Masar Al-Akhdar green corridor, Beirut</a:t>
            </a:r>
          </a:p>
          <a:p>
            <a:pPr>
              <a:spcAft>
                <a:spcPts val="1000"/>
              </a:spcAft>
              <a:buNone/>
            </a:pPr>
            <a:r>
              <a:rPr sz="1500" b="0">
                <a:solidFill>
                  <a:srgbClr val="0E2841"/>
                </a:solidFill>
              </a:rPr>
              <a:t>A 0.5 m rain-on-grid shallow-water model built from airborne LiDAR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HOW THE SIMULATOR WORKS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Rain falls on every cell. Nothing is routed by hand.</a:t>
            </a:r>
          </a:p>
        </p:txBody>
      </p:sp>
      <p:sp>
        <p:nvSpPr>
          <p:cNvPr id="3" name="Text Placeholder 2"/>
          <p:cNvSpPr>
            <a:spLocks noGrp="1"/>
          </p:cNvSpPr>
          <p:nvPr>
            <p:ph type="body" idx="1"/>
          </p:nvPr>
        </p:nvSpPr>
        <p:spPr/>
        <p:txBody>
          <a:bodyPr wrap="square"/>
          <a:lstStyle/>
          <a:p>
            <a:pPr>
              <a:spcAft>
                <a:spcPts val="1000"/>
              </a:spcAft>
              <a:buNone/>
            </a:pPr>
            <a:r>
              <a:rPr sz="1400" b="0">
                <a:solidFill>
                  <a:srgbClr val="0E2841"/>
                </a:solidFill>
              </a:rPr>
              <a:t>2-D shallow-water equations, 2.3 million cells at 0.5 m</a:t>
            </a:r>
          </a:p>
          <a:p>
            <a:pPr>
              <a:spcAft>
                <a:spcPts val="1000"/>
              </a:spcAft>
              <a:buNone/>
            </a:pPr>
            <a:r>
              <a:rPr sz="1400" b="0">
                <a:solidFill>
                  <a:srgbClr val="0E2841"/>
                </a:solidFill>
              </a:rPr>
              <a:t>Rain applied directly to every cell — the flood pattern is an output, not an assumption</a:t>
            </a:r>
          </a:p>
          <a:p>
            <a:pPr>
              <a:spcAft>
                <a:spcPts val="1000"/>
              </a:spcAft>
              <a:buNone/>
            </a:pPr>
            <a:r>
              <a:rPr sz="1400" b="0">
                <a:solidFill>
                  <a:srgbClr val="0E2841"/>
                </a:solidFill>
              </a:rPr>
              <a:t>No drainage network drawn in advance, no sub-catchments</a:t>
            </a:r>
          </a:p>
          <a:p>
            <a:pPr>
              <a:spcAft>
                <a:spcPts val="1000"/>
              </a:spcAft>
              <a:buNone/>
            </a:pPr>
            <a:r>
              <a:rPr sz="1400" b="0">
                <a:solidFill>
                  <a:srgbClr val="0E2841"/>
                </a:solidFill>
              </a:rPr>
              <a:t>Per-cell infiltration, roughness and detention from a 9-class land-cover classification</a:t>
            </a:r>
          </a:p>
          <a:p>
            <a:pPr>
              <a:spcAft>
                <a:spcPts val="1000"/>
              </a:spcAft>
              <a:buNone/>
            </a:pPr>
            <a:r>
              <a:rPr sz="1400" b="0">
                <a:solidFill>
                  <a:srgbClr val="0E2841"/>
                </a:solidFill>
              </a:rPr>
              <a:t>Buildings block flow; roof and courtyard rain is rerouted to the nearest street</a:t>
            </a:r>
          </a:p>
          <a:p>
            <a:pPr>
              <a:spcAft>
                <a:spcPts val="1000"/>
              </a:spcAft>
              <a:buNone/>
            </a:pPr>
            <a:r>
              <a:rPr sz="1400" b="0">
                <a:solidFill>
                  <a:srgbClr val="0E2841"/>
                </a:solidFill>
              </a:rPr>
              <a:t>Mass balance closes to 3 × 10⁻⁵ every run</a:t>
            </a:r>
          </a:p>
        </p:txBody>
      </p:sp>
      <p:pic>
        <p:nvPicPr>
          <p:cNvPr id="4" name="Picture 3" descr="storms.png"/>
          <p:cNvPicPr>
            <a:picLocks noChangeAspect="1"/>
          </p:cNvPicPr>
          <p:nvPr/>
        </p:nvPicPr>
        <p:blipFill>
          <a:blip r:embed="rId2"/>
          <a:stretch>
            <a:fillRect/>
          </a:stretch>
        </p:blipFill>
        <p:spPr>
          <a:xfrm>
            <a:off x="6355080" y="2137410"/>
            <a:ext cx="5532120" cy="276606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What makes it different</a:t>
            </a:r>
          </a:p>
        </p:txBody>
      </p:sp>
      <p:sp>
        <p:nvSpPr>
          <p:cNvPr id="3" name="Content Placeholder 2"/>
          <p:cNvSpPr>
            <a:spLocks noGrp="1"/>
          </p:cNvSpPr>
          <p:nvPr>
            <p:ph idx="1"/>
          </p:nvPr>
        </p:nvSpPr>
        <p:spPr/>
        <p:txBody>
          <a:bodyPr wrap="square"/>
          <a:lstStyle/>
          <a:p>
            <a:pPr>
              <a:spcAft>
                <a:spcPts val="1000"/>
              </a:spcAft>
              <a:buNone/>
            </a:pPr>
            <a:r>
              <a:rPr sz="1300" b="1">
                <a:solidFill>
                  <a:srgbClr val="0E2841"/>
                </a:solidFill>
              </a:rPr>
              <a:t>The physics other packages leave out</a:t>
            </a:r>
            <a:r>
              <a:rPr sz="1300" b="0">
                <a:solidFill>
                  <a:srgbClr val="0E2841"/>
                </a:solidFill>
              </a:rPr>
              <a:t/>
            </a:r>
          </a:p>
          <a:p>
            <a:pPr>
              <a:spcAft>
                <a:spcPts val="1000"/>
              </a:spcAft>
              <a:buNone/>
            </a:pPr>
            <a:r>
              <a:rPr sz="1300" b="0">
                <a:solidFill>
                  <a:srgbClr val="0E2841"/>
                </a:solidFill>
              </a:rPr>
              <a:t>Per-cell infiltration with a wetting front (Green–Ampt), surface detention, and gullies whose capture depends on the head over the grate</a:t>
            </a:r>
          </a:p>
          <a:p>
            <a:pPr>
              <a:spcAft>
                <a:spcPts val="1000"/>
              </a:spcAft>
              <a:buNone/>
            </a:pPr>
            <a:r>
              <a:rPr sz="1300" b="0">
                <a:solidFill>
                  <a:srgbClr val="0E2841"/>
                </a:solidFill>
              </a:rPr>
              <a:t>None of the 19 packages in the UK EA benchmark models infiltration or green infrastructure at all — they are hydraulics only</a:t>
            </a:r>
          </a:p>
          <a:p>
            <a:pPr>
              <a:spcAft>
                <a:spcPts val="1000"/>
              </a:spcAft>
              <a:buNone/>
            </a:pPr>
            <a:r>
              <a:rPr sz="1300" b="0">
                <a:solidFill>
                  <a:srgbClr val="0E2841"/>
                </a:solidFill>
              </a:rPr>
              <a:t/>
            </a:r>
          </a:p>
          <a:p>
            <a:pPr>
              <a:spcAft>
                <a:spcPts val="1000"/>
              </a:spcAft>
              <a:buNone/>
            </a:pPr>
            <a:r>
              <a:rPr sz="1300" b="1">
                <a:solidFill>
                  <a:srgbClr val="0E2841"/>
                </a:solidFill>
              </a:rPr>
              <a:t>A solver you can differentiate</a:t>
            </a:r>
            <a:r>
              <a:rPr sz="1300" b="0">
                <a:solidFill>
                  <a:srgbClr val="0E2841"/>
                </a:solidFill>
              </a:rPr>
              <a:t/>
            </a:r>
          </a:p>
          <a:p>
            <a:pPr>
              <a:spcAft>
                <a:spcPts val="1000"/>
              </a:spcAft>
              <a:buNone/>
            </a:pPr>
            <a:r>
              <a:rPr sz="1300" b="0">
                <a:solidFill>
                  <a:srgbClr val="0E2841"/>
                </a:solidFill>
              </a:rPr>
              <a:t>Gradients of flooded area with respect to every cell of the design, verified to 2 × 10⁻⁸</a:t>
            </a:r>
          </a:p>
          <a:p>
            <a:pPr>
              <a:spcAft>
                <a:spcPts val="1000"/>
              </a:spcAft>
              <a:buNone/>
            </a:pPr>
            <a:r>
              <a:rPr sz="1300" b="0">
                <a:solidFill>
                  <a:srgbClr val="0E2841"/>
                </a:solidFill>
              </a:rPr>
              <a:t>Turns the model from a predictor into a designer</a:t>
            </a:r>
          </a:p>
        </p:txBody>
      </p:sp>
      <p:sp>
        <p:nvSpPr>
          <p:cNvPr id="4" name="Text Placeholder 3"/>
          <p:cNvSpPr>
            <a:spLocks noGrp="1"/>
          </p:cNvSpPr>
          <p:nvPr>
            <p:ph type="body" idx="2" sz="half"/>
          </p:nvPr>
        </p:nvSpPr>
        <p:spPr/>
        <p:txBody>
          <a:bodyPr wrap="square"/>
          <a:lstStyle/>
          <a:p>
            <a:pPr>
              <a:spcAft>
                <a:spcPts val="800"/>
              </a:spcAft>
              <a:buNone/>
            </a:pPr>
            <a:r>
              <a:rPr sz="1200" b="1">
                <a:solidFill>
                  <a:srgbClr val="0E2841"/>
                </a:solidFill>
              </a:rPr>
              <a:t>Built for this problem</a:t>
            </a:r>
            <a:r>
              <a:rPr sz="1200" b="0">
                <a:solidFill>
                  <a:srgbClr val="0E2841"/>
                </a:solidFill>
              </a:rPr>
              <a:t/>
            </a:r>
          </a:p>
          <a:p>
            <a:pPr>
              <a:spcAft>
                <a:spcPts val="800"/>
              </a:spcAft>
              <a:buNone/>
            </a:pPr>
            <a:r>
              <a:rPr sz="1200" b="0">
                <a:solidFill>
                  <a:srgbClr val="0E2841"/>
                </a:solidFill>
              </a:rPr>
              <a:t>Two schemes in one code — fast inertial and shock-capturing HLLC — so scheme error is measured, not assumed</a:t>
            </a:r>
          </a:p>
          <a:p>
            <a:pPr>
              <a:spcAft>
                <a:spcPts val="800"/>
              </a:spcAft>
              <a:buNone/>
            </a:pPr>
            <a:r>
              <a:rPr sz="1200" b="0">
                <a:solidFill>
                  <a:srgbClr val="0E2841"/>
                </a:solidFill>
              </a:rPr>
              <a:t>Sub-metre on a real city: 2.3 M cells, and we show resolution decides the answer</a:t>
            </a:r>
          </a:p>
          <a:p>
            <a:pPr>
              <a:spcAft>
                <a:spcPts val="800"/>
              </a:spcAft>
              <a:buNone/>
            </a:pPr>
            <a:r>
              <a:rPr sz="1200" b="0">
                <a:solidFill>
                  <a:srgbClr val="0E2841"/>
                </a:solidFill>
              </a:rPr>
              <a:t>PyTorch on GPU — what makes the adjoint and ensembles affordable</a:t>
            </a:r>
          </a:p>
          <a:p>
            <a:pPr>
              <a:spcAft>
                <a:spcPts val="800"/>
              </a:spcAft>
              <a:buNone/>
            </a:pPr>
            <a:r>
              <a:rPr sz="1200" b="0">
                <a:solidFill>
                  <a:srgbClr val="0E2841"/>
                </a:solidFill>
              </a:rPr>
              <a:t>Opt-in erosion sub-model for the soft landscape</a:t>
            </a:r>
          </a:p>
          <a:p>
            <a:pPr>
              <a:spcAft>
                <a:spcPts val="800"/>
              </a:spcAft>
              <a:buNone/>
            </a:pPr>
            <a:r>
              <a:rPr sz="1200" b="1">
                <a:solidFill>
                  <a:srgbClr val="0E2841"/>
                </a:solidFill>
              </a:rPr>
              <a:t>What it does not do:</a:t>
            </a:r>
            <a:r>
              <a:rPr sz="1200" b="0">
                <a:solidFill>
                  <a:srgbClr val="0E2841"/>
                </a:solidFill>
              </a:rPr>
              <a:t> no coupled 1-D sewer or river model; shock capturing costs ~3.5× the fast scheme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corridor is built into the terrain, surface by surface</a:t>
            </a:r>
          </a:p>
        </p:txBody>
      </p:sp>
      <p:sp>
        <p:nvSpPr>
          <p:cNvPr id="3" name="Text Placeholder 2"/>
          <p:cNvSpPr>
            <a:spLocks noGrp="1"/>
          </p:cNvSpPr>
          <p:nvPr>
            <p:ph type="body" idx="1"/>
          </p:nvPr>
        </p:nvSpPr>
        <p:spPr/>
        <p:txBody>
          <a:bodyPr wrap="square"/>
          <a:lstStyle/>
          <a:p>
            <a:pPr>
              <a:spcAft>
                <a:spcPts val="1000"/>
              </a:spcAft>
              <a:buNone/>
            </a:pPr>
            <a:r>
              <a:rPr sz="1300" b="0">
                <a:solidFill>
                  <a:srgbClr val="0E2841"/>
                </a:solidFill>
              </a:rPr>
              <a:t>Geometry from the AUB Beirut Urban Lab dataset</a:t>
            </a:r>
          </a:p>
          <a:p>
            <a:pPr>
              <a:spcAft>
                <a:spcPts val="1000"/>
              </a:spcAft>
              <a:buNone/>
            </a:pPr>
            <a:r>
              <a:rPr sz="1300" b="0">
                <a:solidFill>
                  <a:srgbClr val="0E2841"/>
                </a:solidFill>
              </a:rPr>
              <a:t>Seven surface types, each with its own infiltration, roughness and surface depression</a:t>
            </a:r>
          </a:p>
          <a:p>
            <a:pPr>
              <a:spcAft>
                <a:spcPts val="1000"/>
              </a:spcAft>
              <a:buNone/>
            </a:pPr>
            <a:r>
              <a:rPr sz="1300" b="0">
                <a:solidFill>
                  <a:srgbClr val="0E2841"/>
                </a:solidFill>
              </a:rPr>
              <a:t>Rain garden is 52 % of the corridor; the engineered bioswales and ponds are under 4,000 m²</a:t>
            </a:r>
          </a:p>
          <a:p>
            <a:pPr>
              <a:spcAft>
                <a:spcPts val="1000"/>
              </a:spcAft>
              <a:buNone/>
            </a:pPr>
            <a:r>
              <a:rPr sz="1300" b="0">
                <a:solidFill>
                  <a:srgbClr val="0E2841"/>
                </a:solidFill>
              </a:rPr>
              <a:t>Buildings the scheme demolishes are cleared from the terrain first</a:t>
            </a:r>
          </a:p>
          <a:p>
            <a:pPr>
              <a:spcAft>
                <a:spcPts val="1000"/>
              </a:spcAft>
              <a:buNone/>
            </a:pPr>
            <a:r>
              <a:rPr sz="1300" b="0">
                <a:solidFill>
                  <a:srgbClr val="0E2841"/>
                </a:solidFill>
              </a:rPr>
              <a:t>31,828 m² of corridor in total</a:t>
            </a:r>
          </a:p>
          <a:p>
            <a:pPr>
              <a:spcAft>
                <a:spcPts val="1000"/>
              </a:spcAft>
              <a:buNone/>
            </a:pPr>
            <a:r>
              <a:rPr sz="1300" b="0">
                <a:solidFill>
                  <a:srgbClr val="0E2841"/>
                </a:solidFill>
              </a:rPr>
              <a:t/>
            </a:r>
          </a:p>
          <a:p>
            <a:pPr>
              <a:spcAft>
                <a:spcPts val="1000"/>
              </a:spcAft>
              <a:buNone/>
            </a:pPr>
            <a:r>
              <a:rPr sz="1300" b="1">
                <a:solidFill>
                  <a:srgbClr val="0E2841"/>
                </a:solidFill>
              </a:rPr>
              <a:t>Our reading of the design.</a:t>
            </a:r>
            <a:r>
              <a:rPr sz="1300" b="0">
                <a:solidFill>
                  <a:srgbClr val="0E2841"/>
                </a:solidFill>
              </a:rPr>
              <a:t> The cross-section is interpreted from the published drawings and what seemed hydraulically sensible — not a construction specification.</a:t>
            </a:r>
          </a:p>
        </p:txBody>
      </p:sp>
      <p:pic>
        <p:nvPicPr>
          <p:cNvPr id="4" name="Picture 3" descr="corridor_materials.png"/>
          <p:cNvPicPr>
            <a:picLocks noChangeAspect="1"/>
          </p:cNvPicPr>
          <p:nvPr/>
        </p:nvPicPr>
        <p:blipFill>
          <a:blip r:embed="rId2"/>
          <a:stretch>
            <a:fillRect/>
          </a:stretch>
        </p:blipFill>
        <p:spPr>
          <a:xfrm>
            <a:off x="6355080" y="1350898"/>
            <a:ext cx="5532120" cy="4339084"/>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CAN IT BE TRUSTED?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Against an independent solver, on the same grid</a:t>
            </a:r>
          </a:p>
        </p:txBody>
      </p:sp>
      <p:sp>
        <p:nvSpPr>
          <p:cNvPr id="3" name="Text Placeholder 2"/>
          <p:cNvSpPr>
            <a:spLocks noGrp="1"/>
          </p:cNvSpPr>
          <p:nvPr>
            <p:ph type="body" idx="1"/>
          </p:nvPr>
        </p:nvSpPr>
        <p:spPr/>
        <p:txBody>
          <a:bodyPr wrap="square"/>
          <a:lstStyle/>
          <a:p>
            <a:pPr>
              <a:spcAft>
                <a:spcPts val="1000"/>
              </a:spcAft>
              <a:buNone/>
            </a:pPr>
            <a:r>
              <a:rPr sz="1400" b="1">
                <a:solidFill>
                  <a:srgbClr val="0E2841"/>
                </a:solidFill>
              </a:rPr>
              <a:t>SynxFlow</a:t>
            </a:r>
            <a:r>
              <a:rPr sz="1400" b="0">
                <a:solidFill>
                  <a:srgbClr val="0E2841"/>
                </a:solidFill>
              </a:rPr>
              <a:t> — an independently written full shallow-water Godunov solver</a:t>
            </a:r>
          </a:p>
          <a:p>
            <a:pPr>
              <a:spcAft>
                <a:spcPts val="1000"/>
              </a:spcAft>
              <a:buNone/>
            </a:pPr>
            <a:r>
              <a:rPr sz="1400" b="1">
                <a:solidFill>
                  <a:srgbClr val="0E2841"/>
                </a:solidFill>
              </a:rPr>
              <a:t>Our shock-capturing scheme:</a:t>
            </a:r>
            <a:r>
              <a:rPr sz="1400" b="0">
                <a:solidFill>
                  <a:srgbClr val="0E2841"/>
                </a:solidFill>
              </a:rPr>
              <a:t>  IoU 0.913 · correlation 0.985 · RMSE 3.7 cm</a:t>
            </a:r>
          </a:p>
          <a:p>
            <a:pPr>
              <a:spcAft>
                <a:spcPts val="1000"/>
              </a:spcAft>
              <a:buNone/>
            </a:pPr>
            <a:r>
              <a:rPr sz="1400" b="1">
                <a:solidFill>
                  <a:srgbClr val="0E2841"/>
                </a:solidFill>
              </a:rPr>
              <a:t>Our fast scheme:</a:t>
            </a:r>
            <a:r>
              <a:rPr sz="1400" b="0">
                <a:solidFill>
                  <a:srgbClr val="0E2841"/>
                </a:solidFill>
              </a:rPr>
              <a:t>  IoU 0.690 · RMSE 7.8 cm · spreads water over 27 % more area</a:t>
            </a:r>
          </a:p>
          <a:p>
            <a:pPr>
              <a:spcAft>
                <a:spcPts val="1000"/>
              </a:spcAft>
              <a:buNone/>
            </a:pPr>
            <a:r>
              <a:rPr sz="1400" b="1">
                <a:solidFill>
                  <a:srgbClr val="0E2841"/>
                </a:solidFill>
              </a:rPr>
              <a:t>LISFLOOD-FP:</a:t>
            </a:r>
            <a:r>
              <a:rPr sz="1400" b="0">
                <a:solidFill>
                  <a:srgbClr val="0E2841"/>
                </a:solidFill>
              </a:rPr>
              <a:t>  unusable here — fabricated six times the input volume and failed its own mass balance</a:t>
            </a:r>
          </a:p>
        </p:txBody>
      </p:sp>
      <p:pic>
        <p:nvPicPr>
          <p:cNvPr id="4" name="Picture 3" descr="validation_synxflow.png"/>
          <p:cNvPicPr>
            <a:picLocks noChangeAspect="1"/>
          </p:cNvPicPr>
          <p:nvPr/>
        </p:nvPicPr>
        <p:blipFill>
          <a:blip r:embed="rId2"/>
          <a:stretch>
            <a:fillRect/>
          </a:stretch>
        </p:blipFill>
        <p:spPr>
          <a:xfrm>
            <a:off x="6355080" y="2310289"/>
            <a:ext cx="5532120" cy="2420302"/>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UK EA benchmark, Test 8A: rainfall in an urban street network</a:t>
            </a:r>
          </a:p>
        </p:txBody>
      </p:sp>
      <p:sp>
        <p:nvSpPr>
          <p:cNvPr id="3" name="Text Placeholder 2"/>
          <p:cNvSpPr>
            <a:spLocks noGrp="1"/>
          </p:cNvSpPr>
          <p:nvPr>
            <p:ph type="body" idx="1"/>
          </p:nvPr>
        </p:nvSpPr>
        <p:spPr/>
        <p:txBody>
          <a:bodyPr wrap="square"/>
          <a:lstStyle/>
          <a:p>
            <a:pPr>
              <a:spcAft>
                <a:spcPts val="1000"/>
              </a:spcAft>
              <a:buNone/>
            </a:pPr>
            <a:r>
              <a:rPr sz="1400" b="0">
                <a:solidFill>
                  <a:srgbClr val="0E2841"/>
                </a:solidFill>
              </a:rPr>
              <a:t>The closest published benchmark to what we model: direct rainfall on a real dense street network in Glasgow</a:t>
            </a:r>
          </a:p>
          <a:p>
            <a:pPr>
              <a:spcAft>
                <a:spcPts val="1000"/>
              </a:spcAft>
              <a:buNone/>
            </a:pPr>
            <a:r>
              <a:rPr sz="1400" b="1">
                <a:solidFill>
                  <a:srgbClr val="0E2841"/>
                </a:solidFill>
              </a:rPr>
              <a:t>In cluster at all four gauges with published curves</a:t>
            </a:r>
            <a:r>
              <a:rPr sz="1400" b="0">
                <a:solidFill>
                  <a:srgbClr val="0E2841"/>
                </a:solidFill>
              </a:rPr>
              <a:t/>
            </a:r>
          </a:p>
          <a:p>
            <a:pPr>
              <a:spcAft>
                <a:spcPts val="1000"/>
              </a:spcAft>
              <a:buNone/>
            </a:pPr>
            <a:r>
              <a:rPr sz="1400" b="0">
                <a:solidFill>
                  <a:srgbClr val="0E2841"/>
                </a:solidFill>
              </a:rPr>
              <a:t>P1 0.579 m · P2 0.239 m · P3 0.726 m · P6 0.064 m</a:t>
            </a:r>
          </a:p>
          <a:p>
            <a:pPr>
              <a:spcAft>
                <a:spcPts val="1000"/>
              </a:spcAft>
              <a:buNone/>
            </a:pPr>
            <a:r>
              <a:rPr sz="1400" b="0">
                <a:solidFill>
                  <a:srgbClr val="0E2841"/>
                </a:solidFill>
              </a:rPr>
              <a:t>Compared against 19 commercial and research packages</a:t>
            </a:r>
          </a:p>
          <a:p>
            <a:pPr>
              <a:spcAft>
                <a:spcPts val="1000"/>
              </a:spcAft>
              <a:buNone/>
            </a:pPr>
            <a:r>
              <a:rPr sz="1400" b="0">
                <a:solidFill>
                  <a:srgbClr val="0E2841"/>
                </a:solidFill>
              </a:rPr>
              <a:t>Mass balance closed to −0.000 % on the benchmark run</a:t>
            </a:r>
          </a:p>
        </p:txBody>
      </p:sp>
      <p:pic>
        <p:nvPicPr>
          <p:cNvPr id="4" name="Picture 3" descr="benchmark_ea8.png"/>
          <p:cNvPicPr>
            <a:picLocks noChangeAspect="1"/>
          </p:cNvPicPr>
          <p:nvPr/>
        </p:nvPicPr>
        <p:blipFill>
          <a:blip r:embed="rId2"/>
          <a:stretch>
            <a:fillRect/>
          </a:stretch>
        </p:blipFill>
        <p:spPr>
          <a:xfrm>
            <a:off x="6355080" y="1834872"/>
            <a:ext cx="5532120" cy="3371135"/>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UK EA benchmark, Test 4: flood propagation over a floodplain</a:t>
            </a:r>
          </a:p>
        </p:txBody>
      </p:sp>
      <p:sp>
        <p:nvSpPr>
          <p:cNvPr id="3" name="Text Placeholder 2"/>
          <p:cNvSpPr>
            <a:spLocks noGrp="1"/>
          </p:cNvSpPr>
          <p:nvPr>
            <p:ph type="body" idx="1"/>
          </p:nvPr>
        </p:nvSpPr>
        <p:spPr/>
        <p:txBody>
          <a:bodyPr wrap="square"/>
          <a:lstStyle/>
          <a:p>
            <a:pPr>
              <a:spcAft>
                <a:spcPts val="1000"/>
              </a:spcAft>
              <a:buNone/>
            </a:pPr>
            <a:r>
              <a:rPr sz="1400" b="0">
                <a:solidFill>
                  <a:srgbClr val="0E2841"/>
                </a:solidFill>
              </a:rPr>
              <a:t>Tests the speed of an advancing flood front and the depths behind it</a:t>
            </a:r>
          </a:p>
          <a:p>
            <a:pPr>
              <a:spcAft>
                <a:spcPts val="1000"/>
              </a:spcAft>
              <a:buNone/>
            </a:pPr>
            <a:r>
              <a:rPr sz="1400" b="1">
                <a:solidFill>
                  <a:srgbClr val="0E2841"/>
                </a:solidFill>
              </a:rPr>
              <a:t>In cluster at all nine cross-section points, on both schemes</a:t>
            </a:r>
            <a:r>
              <a:rPr sz="1400" b="0">
                <a:solidFill>
                  <a:srgbClr val="0E2841"/>
                </a:solidFill>
              </a:rPr>
              <a:t/>
            </a:r>
          </a:p>
          <a:p>
            <a:pPr>
              <a:spcAft>
                <a:spcPts val="1000"/>
              </a:spcAft>
              <a:buNone/>
            </a:pPr>
            <a:r>
              <a:rPr sz="1400" b="0">
                <a:solidFill>
                  <a:srgbClr val="0E2841"/>
                </a:solidFill>
              </a:rPr>
              <a:t>Built from the specification in the EA report — no data files required for this case</a:t>
            </a:r>
          </a:p>
          <a:p>
            <a:pPr>
              <a:spcAft>
                <a:spcPts val="1000"/>
              </a:spcAft>
              <a:buNone/>
            </a:pPr>
            <a:r>
              <a:rPr sz="1400" b="0">
                <a:solidFill>
                  <a:srgbClr val="0E2841"/>
                </a:solidFill>
              </a:rPr>
              <a:t/>
            </a:r>
          </a:p>
          <a:p>
            <a:pPr>
              <a:spcAft>
                <a:spcPts val="1000"/>
              </a:spcAft>
              <a:buNone/>
            </a:pPr>
            <a:r>
              <a:rPr sz="1400" b="1">
                <a:solidFill>
                  <a:srgbClr val="0E2841"/>
                </a:solidFill>
              </a:rPr>
              <a:t>Behind these: 5 of 5 analytic tests pass</a:t>
            </a:r>
            <a:r>
              <a:rPr sz="1400" b="0">
                <a:solidFill>
                  <a:srgbClr val="0E2841"/>
                </a:solidFill>
              </a:rPr>
              <a:t> — conservation, Manning normal depth, well-balancedness, reference-port equivalence</a:t>
            </a:r>
          </a:p>
        </p:txBody>
      </p:sp>
      <p:pic>
        <p:nvPicPr>
          <p:cNvPr id="4" name="Picture 3" descr="benchmark_ea4.png"/>
          <p:cNvPicPr>
            <a:picLocks noChangeAspect="1"/>
          </p:cNvPicPr>
          <p:nvPr/>
        </p:nvPicPr>
        <p:blipFill>
          <a:blip r:embed="rId2"/>
          <a:stretch>
            <a:fillRect/>
          </a:stretch>
        </p:blipFill>
        <p:spPr>
          <a:xfrm>
            <a:off x="6355080" y="1834872"/>
            <a:ext cx="5532120" cy="3371135"/>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Does the half-metre grid earn its cost?</a:t>
            </a:r>
          </a:p>
        </p:txBody>
      </p:sp>
      <p:sp>
        <p:nvSpPr>
          <p:cNvPr id="3" name="Text Placeholder 2"/>
          <p:cNvSpPr>
            <a:spLocks noGrp="1"/>
          </p:cNvSpPr>
          <p:nvPr>
            <p:ph type="body" idx="1"/>
          </p:nvPr>
        </p:nvSpPr>
        <p:spPr/>
        <p:txBody>
          <a:bodyPr wrap="square"/>
          <a:lstStyle/>
          <a:p>
            <a:pPr>
              <a:spcAft>
                <a:spcPts val="1000"/>
              </a:spcAft>
              <a:buNone/>
            </a:pPr>
            <a:r>
              <a:rPr sz="1400" b="1">
                <a:solidFill>
                  <a:srgbClr val="0E2841"/>
                </a:solidFill>
              </a:rPr>
              <a:t>The EA benchmark report leaves this open:</a:t>
            </a:r>
            <a:r>
              <a:rPr sz="1400" b="0">
                <a:solidFill>
                  <a:srgbClr val="0E2841"/>
                </a:solidFill>
              </a:rPr>
              <a:t> “it is not currently clear that grid resolutions finer than 2 m will improve…”</a:t>
            </a:r>
          </a:p>
          <a:p>
            <a:pPr>
              <a:spcAft>
                <a:spcPts val="1000"/>
              </a:spcAft>
              <a:buNone/>
            </a:pPr>
            <a:r>
              <a:rPr sz="1400" b="0">
                <a:solidFill>
                  <a:srgbClr val="0E2841"/>
                </a:solidFill>
              </a:rPr>
              <a:t>Same terrain, coarsened step by step — only the grid changes</a:t>
            </a:r>
          </a:p>
          <a:p>
            <a:pPr>
              <a:spcAft>
                <a:spcPts val="1000"/>
              </a:spcAft>
              <a:buNone/>
            </a:pPr>
            <a:r>
              <a:rPr sz="1400" b="1">
                <a:solidFill>
                  <a:srgbClr val="0E2841"/>
                </a:solidFill>
              </a:rPr>
              <a:t>At 2 m the corridor's measured benefit collapses from 9.4 % to 0.6 %</a:t>
            </a:r>
            <a:r>
              <a:rPr sz="1400" b="0">
                <a:solidFill>
                  <a:srgbClr val="0E2841"/>
                </a:solidFill>
              </a:rPr>
              <a:t/>
            </a:r>
          </a:p>
          <a:p>
            <a:pPr>
              <a:spcAft>
                <a:spcPts val="1000"/>
              </a:spcAft>
              <a:buNone/>
            </a:pPr>
            <a:r>
              <a:rPr sz="1400" b="0">
                <a:solidFill>
                  <a:srgbClr val="0E2841"/>
                </a:solidFill>
              </a:rPr>
              <a:t>Peak street velocity climbs the wrong way, 4.3 → 14.8 m/s, as kerbs and narrow streets are averaged away</a:t>
            </a:r>
          </a:p>
          <a:p>
            <a:pPr>
              <a:spcAft>
                <a:spcPts val="1000"/>
              </a:spcAft>
              <a:buNone/>
            </a:pPr>
            <a:r>
              <a:rPr sz="1400" b="0">
                <a:solidFill>
                  <a:srgbClr val="0E2841"/>
                </a:solidFill>
              </a:rPr>
              <a:t>For this kind of appraisal, sub-metre resolution is the difference between measuring the effect and missing it</a:t>
            </a:r>
          </a:p>
        </p:txBody>
      </p:sp>
      <p:pic>
        <p:nvPicPr>
          <p:cNvPr id="4" name="Picture 3" descr="resolution.png"/>
          <p:cNvPicPr>
            <a:picLocks noChangeAspect="1"/>
          </p:cNvPicPr>
          <p:nvPr/>
        </p:nvPicPr>
        <p:blipFill>
          <a:blip r:embed="rId2"/>
          <a:stretch>
            <a:fillRect/>
          </a:stretch>
        </p:blipFill>
        <p:spPr>
          <a:xfrm>
            <a:off x="6355080" y="2441677"/>
            <a:ext cx="5532120" cy="2157526"/>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BEIRUT: THE GREEN CORRIDOR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Before and after, 25 November 2025 storm</a:t>
            </a:r>
          </a:p>
        </p:txBody>
      </p:sp>
      <p:pic>
        <p:nvPicPr>
          <p:cNvPr id="4" name="Picture 3" descr="beirut_before_after.png"/>
          <p:cNvPicPr>
            <a:picLocks noChangeAspect="1"/>
          </p:cNvPicPr>
          <p:nvPr/>
        </p:nvPicPr>
        <p:blipFill>
          <a:blip r:embed="rId2"/>
          <a:stretch>
            <a:fillRect/>
          </a:stretch>
        </p:blipFill>
        <p:spPr>
          <a:xfrm>
            <a:off x="2214610" y="1325880"/>
            <a:ext cx="7842028" cy="4434840"/>
          </a:xfrm>
          <a:prstGeom prst="rect">
            <a:avLst/>
          </a:prstGeom>
        </p:spPr>
      </p:pic>
      <p:sp>
        <p:nvSpPr>
          <p:cNvPr id="5" name="TextBox 4"/>
          <p:cNvSpPr txBox="1"/>
          <p:nvPr/>
        </p:nvSpPr>
        <p:spPr>
          <a:xfrm>
            <a:off x="374904" y="5806440"/>
            <a:ext cx="11521440" cy="457200"/>
          </a:xfrm>
          <a:prstGeom prst="rect">
            <a:avLst/>
          </a:prstGeom>
          <a:noFill/>
        </p:spPr>
        <p:txBody>
          <a:bodyPr wrap="square">
            <a:spAutoFit/>
          </a:bodyPr>
          <a:lstStyle/>
          <a:p>
            <a:r>
              <a:rPr sz="1100">
                <a:solidFill>
                  <a:srgbClr val="5C6B73"/>
                </a:solidFill>
              </a:rPr>
              <a:t>Peak water depth. Teal outline = the right-of-way ribbon. Right panel: blue is drier after the corridor is built.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benefit is real, and it reaches about two blocks</a:t>
            </a:r>
          </a:p>
        </p:txBody>
      </p:sp>
      <p:sp>
        <p:nvSpPr>
          <p:cNvPr id="3" name="Text Placeholder 2"/>
          <p:cNvSpPr>
            <a:spLocks noGrp="1"/>
          </p:cNvSpPr>
          <p:nvPr>
            <p:ph type="body" idx="1"/>
          </p:nvPr>
        </p:nvSpPr>
        <p:spPr/>
        <p:txBody>
          <a:bodyPr wrap="square"/>
          <a:lstStyle/>
          <a:p>
            <a:pPr>
              <a:spcAft>
                <a:spcPts val="1000"/>
              </a:spcAft>
              <a:buNone/>
            </a:pPr>
            <a:r>
              <a:rPr sz="1400" b="1">
                <a:solidFill>
                  <a:srgbClr val="0E2841"/>
                </a:solidFill>
              </a:rPr>
              <a:t>Frequent storm (T2)</a:t>
            </a:r>
            <a:r>
              <a:rPr sz="1400" b="0">
                <a:solidFill>
                  <a:srgbClr val="0E2841"/>
                </a:solidFill>
              </a:rPr>
              <a:t>   −58 % flooding underfoot</a:t>
            </a:r>
          </a:p>
          <a:p>
            <a:pPr>
              <a:spcAft>
                <a:spcPts val="1000"/>
              </a:spcAft>
              <a:buNone/>
            </a:pPr>
            <a:r>
              <a:rPr sz="1400" b="1">
                <a:solidFill>
                  <a:srgbClr val="0E2841"/>
                </a:solidFill>
              </a:rPr>
              <a:t>Observed 25 Nov 2025</a:t>
            </a:r>
            <a:r>
              <a:rPr sz="1400" b="0">
                <a:solidFill>
                  <a:srgbClr val="0E2841"/>
                </a:solidFill>
              </a:rPr>
              <a:t>   −52 %</a:t>
            </a:r>
          </a:p>
          <a:p>
            <a:pPr>
              <a:spcAft>
                <a:spcPts val="1000"/>
              </a:spcAft>
              <a:buNone/>
            </a:pPr>
            <a:r>
              <a:rPr sz="1400" b="1">
                <a:solidFill>
                  <a:srgbClr val="0E2841"/>
                </a:solidFill>
              </a:rPr>
              <a:t>Severe storm (T50)</a:t>
            </a:r>
            <a:r>
              <a:rPr sz="1400" b="0">
                <a:solidFill>
                  <a:srgbClr val="0E2841"/>
                </a:solidFill>
              </a:rPr>
              <a:t>   -1 %</a:t>
            </a:r>
          </a:p>
          <a:p>
            <a:pPr>
              <a:spcAft>
                <a:spcPts val="1000"/>
              </a:spcAft>
              <a:buNone/>
            </a:pPr>
            <a:r>
              <a:rPr sz="1400" b="0">
                <a:solidFill>
                  <a:srgbClr val="0E2841"/>
                </a:solidFill>
              </a:rPr>
              <a:t/>
            </a:r>
          </a:p>
          <a:p>
            <a:pPr>
              <a:spcAft>
                <a:spcPts val="1000"/>
              </a:spcAft>
              <a:buNone/>
            </a:pPr>
            <a:r>
              <a:rPr sz="1400" b="0">
                <a:solidFill>
                  <a:srgbClr val="0E2841"/>
                </a:solidFill>
              </a:rPr>
              <a:t>+919 m³ extra water absorbed in the observed storm</a:t>
            </a:r>
          </a:p>
          <a:p>
            <a:pPr>
              <a:spcAft>
                <a:spcPts val="1000"/>
              </a:spcAft>
              <a:buNone/>
            </a:pPr>
            <a:r>
              <a:rPr sz="1400" b="0">
                <a:solidFill>
                  <a:srgbClr val="0E2841"/>
                </a:solidFill>
              </a:rPr>
              <a:t>−17 % less water sent toward the port</a:t>
            </a:r>
          </a:p>
          <a:p>
            <a:pPr>
              <a:spcAft>
                <a:spcPts val="1000"/>
              </a:spcAft>
              <a:buNone/>
            </a:pPr>
            <a:r>
              <a:rPr sz="1400" b="0">
                <a:solidFill>
                  <a:srgbClr val="0E2841"/>
                </a:solidFill>
              </a:rPr>
              <a:t/>
            </a:r>
          </a:p>
          <a:p>
            <a:pPr>
              <a:spcAft>
                <a:spcPts val="1000"/>
              </a:spcAft>
              <a:buNone/>
            </a:pPr>
            <a:r>
              <a:rPr sz="1400" b="0">
                <a:solidFill>
                  <a:srgbClr val="0E2841"/>
                </a:solidFill>
              </a:rPr>
              <a:t>Measured on walkable surfaces — the fifth of the corridor dug out as swales and ponds holds water by design</a:t>
            </a:r>
          </a:p>
        </p:txBody>
      </p:sp>
      <p:pic>
        <p:nvPicPr>
          <p:cNvPr id="4" name="Picture 3" descr="beirut_bands.png"/>
          <p:cNvPicPr>
            <a:picLocks noChangeAspect="1"/>
          </p:cNvPicPr>
          <p:nvPr/>
        </p:nvPicPr>
        <p:blipFill>
          <a:blip r:embed="rId2"/>
          <a:stretch>
            <a:fillRect/>
          </a:stretch>
        </p:blipFill>
        <p:spPr>
          <a:xfrm>
            <a:off x="6355080" y="1885950"/>
            <a:ext cx="5532120" cy="326898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 a severe storm it stops keeping itself dry — and protects everywhere else</a:t>
            </a:r>
          </a:p>
        </p:txBody>
      </p:sp>
      <p:sp>
        <p:nvSpPr>
          <p:cNvPr id="3" name="Text Placeholder 2"/>
          <p:cNvSpPr>
            <a:spLocks noGrp="1"/>
          </p:cNvSpPr>
          <p:nvPr>
            <p:ph type="body" idx="1"/>
          </p:nvPr>
        </p:nvSpPr>
        <p:spPr/>
        <p:txBody>
          <a:bodyPr wrap="square"/>
          <a:lstStyle/>
          <a:p>
            <a:pPr>
              <a:spcAft>
                <a:spcPts val="1000"/>
              </a:spcAft>
              <a:buNone/>
            </a:pPr>
            <a:r>
              <a:rPr sz="1400" b="1">
                <a:solidFill>
                  <a:srgbClr val="0E2841"/>
                </a:solidFill>
              </a:rPr>
              <a:t>T50: flooded area on the corridor barely moves</a:t>
            </a:r>
            <a:r>
              <a:rPr sz="1400" b="0">
                <a:solidFill>
                  <a:srgbClr val="0E2841"/>
                </a:solidFill>
              </a:rPr>
              <a:t> (-0.7 %)</a:t>
            </a:r>
          </a:p>
          <a:p>
            <a:pPr>
              <a:spcAft>
                <a:spcPts val="1000"/>
              </a:spcAft>
              <a:buNone/>
            </a:pPr>
            <a:r>
              <a:rPr sz="1400" b="1">
                <a:solidFill>
                  <a:srgbClr val="0E2841"/>
                </a:solidFill>
              </a:rPr>
              <a:t>…yet it absorbs</a:t>
            </a:r>
            <a:r>
              <a:rPr sz="1400" b="0">
                <a:solidFill>
                  <a:srgbClr val="0E2841"/>
                </a:solidFill>
              </a:rPr>
              <a:t> 2,124 m³ more water and cuts flow toward the port by 11 %</a:t>
            </a:r>
          </a:p>
          <a:p>
            <a:pPr>
              <a:spcAft>
                <a:spcPts val="1000"/>
              </a:spcAft>
              <a:buNone/>
            </a:pPr>
            <a:r>
              <a:rPr sz="1400" b="0">
                <a:solidFill>
                  <a:srgbClr val="0E2841"/>
                </a:solidFill>
              </a:rPr>
              <a:t>Its swales and ponds fill and hold — the water is on the corridor by design, not running down the streets</a:t>
            </a:r>
          </a:p>
          <a:p>
            <a:pPr>
              <a:spcAft>
                <a:spcPts val="1000"/>
              </a:spcAft>
              <a:buNone/>
            </a:pPr>
            <a:r>
              <a:rPr sz="1400" b="0">
                <a:solidFill>
                  <a:srgbClr val="0E2841"/>
                </a:solidFill>
              </a:rPr>
              <a:t/>
            </a:r>
          </a:p>
          <a:p>
            <a:pPr>
              <a:spcAft>
                <a:spcPts val="1000"/>
              </a:spcAft>
              <a:buNone/>
            </a:pPr>
            <a:r>
              <a:rPr sz="1400" b="1">
                <a:solidFill>
                  <a:srgbClr val="0E2841"/>
                </a:solidFill>
              </a:rPr>
              <a:t>Correction to the earlier study:</a:t>
            </a:r>
            <a:r>
              <a:rPr sz="1400" b="0">
                <a:solidFill>
                  <a:srgbClr val="0E2841"/>
                </a:solidFill>
              </a:rPr>
              <a:t> the corridor does not triple infiltration. The multiple is 1.32× — ordinary Beirut ground already absorbs far more than a constant rate implied.</a:t>
            </a:r>
          </a:p>
        </p:txBody>
      </p:sp>
      <p:pic>
        <p:nvPicPr>
          <p:cNvPr id="4" name="Picture 3" descr="beirut_water_balance.png"/>
          <p:cNvPicPr>
            <a:picLocks noChangeAspect="1"/>
          </p:cNvPicPr>
          <p:nvPr/>
        </p:nvPicPr>
        <p:blipFill>
          <a:blip r:embed="rId2"/>
          <a:stretch>
            <a:fillRect/>
          </a:stretch>
        </p:blipFill>
        <p:spPr>
          <a:xfrm>
            <a:off x="6355080" y="2469337"/>
            <a:ext cx="5532120" cy="2102205"/>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What would make this a validated model</a:t>
            </a:r>
          </a:p>
        </p:txBody>
      </p:sp>
      <p:sp>
        <p:nvSpPr>
          <p:cNvPr id="3" name="Content Placeholder 2"/>
          <p:cNvSpPr>
            <a:spLocks noGrp="1"/>
          </p:cNvSpPr>
          <p:nvPr>
            <p:ph idx="1"/>
          </p:nvPr>
        </p:nvSpPr>
        <p:spPr/>
        <p:txBody>
          <a:bodyPr wrap="square"/>
          <a:lstStyle/>
          <a:p>
            <a:pPr>
              <a:spcAft>
                <a:spcPts val="1000"/>
              </a:spcAft>
              <a:buNone/>
            </a:pPr>
            <a:r>
              <a:rPr sz="1400" b="1">
                <a:solidFill>
                  <a:srgbClr val="0E2841"/>
                </a:solidFill>
              </a:rPr>
              <a:t>The model is verified. It is not yet validated.</a:t>
            </a:r>
            <a:r>
              <a:rPr sz="1400" b="0">
                <a:solidFill>
                  <a:srgbClr val="0E2841"/>
                </a:solidFill>
              </a:rPr>
              <a:t/>
            </a:r>
          </a:p>
          <a:p>
            <a:pPr>
              <a:spcAft>
                <a:spcPts val="1000"/>
              </a:spcAft>
              <a:buNone/>
            </a:pPr>
            <a:r>
              <a:rPr sz="1400" b="0">
                <a:solidFill>
                  <a:srgbClr val="0E2841"/>
                </a:solidFill>
              </a:rPr>
              <a:t>It reproduces analytic solutions, passes two international benchmarks, and agrees with an independent solver to 3.7 cm.</a:t>
            </a:r>
          </a:p>
          <a:p>
            <a:pPr>
              <a:spcAft>
                <a:spcPts val="1000"/>
              </a:spcAft>
              <a:buNone/>
            </a:pPr>
            <a:r>
              <a:rPr sz="1400" b="0">
                <a:solidFill>
                  <a:srgbClr val="0E2841"/>
                </a:solidFill>
              </a:rPr>
              <a:t>Every one of those compares it to other models — never to a flood that was measured in Beirut.</a:t>
            </a:r>
          </a:p>
          <a:p>
            <a:pPr>
              <a:spcAft>
                <a:spcPts val="1000"/>
              </a:spcAft>
              <a:buNone/>
            </a:pPr>
            <a:r>
              <a:rPr sz="1400" b="0">
                <a:solidFill>
                  <a:srgbClr val="0E2841"/>
                </a:solidFill>
              </a:rPr>
              <a:t/>
            </a:r>
          </a:p>
          <a:p>
            <a:pPr>
              <a:spcAft>
                <a:spcPts val="1000"/>
              </a:spcAft>
              <a:buNone/>
            </a:pPr>
            <a:r>
              <a:rPr sz="1400" b="1">
                <a:solidFill>
                  <a:srgbClr val="0E2841"/>
                </a:solidFill>
              </a:rPr>
              <a:t>The proposal</a:t>
            </a:r>
            <a:r>
              <a:rPr sz="1400" b="0">
                <a:solidFill>
                  <a:srgbClr val="0E2841"/>
                </a:solidFill>
              </a:rPr>
              <a:t/>
            </a:r>
          </a:p>
          <a:p>
            <a:pPr>
              <a:spcAft>
                <a:spcPts val="1000"/>
              </a:spcAft>
              <a:buNone/>
            </a:pPr>
            <a:r>
              <a:rPr sz="1400" b="0">
                <a:solidFill>
                  <a:srgbClr val="0E2841"/>
                </a:solidFill>
              </a:rPr>
              <a:t>A modest, well-targeted field campaign in Beirut would close this — and nothing else can.</a:t>
            </a:r>
          </a:p>
        </p:txBody>
      </p:sp>
      <p:sp>
        <p:nvSpPr>
          <p:cNvPr id="4" name="Text Placeholder 3"/>
          <p:cNvSpPr>
            <a:spLocks noGrp="1"/>
          </p:cNvSpPr>
          <p:nvPr>
            <p:ph type="body" idx="2" sz="half"/>
          </p:nvPr>
        </p:nvSpPr>
        <p:spPr/>
        <p:txBody>
          <a:bodyPr wrap="square"/>
          <a:lstStyle/>
          <a:p>
            <a:pPr>
              <a:spcAft>
                <a:spcPts val="1000"/>
              </a:spcAft>
              <a:buNone/>
            </a:pPr>
            <a:r>
              <a:rPr sz="1300" b="1">
                <a:solidFill>
                  <a:srgbClr val="0E2841"/>
                </a:solidFill>
              </a:rPr>
              <a:t>What it would take</a:t>
            </a:r>
            <a:r>
              <a:rPr sz="1300" b="0">
                <a:solidFill>
                  <a:srgbClr val="0E2841"/>
                </a:solidFill>
              </a:rPr>
              <a:t/>
            </a:r>
          </a:p>
          <a:p>
            <a:pPr>
              <a:spcAft>
                <a:spcPts val="1000"/>
              </a:spcAft>
              <a:buNone/>
            </a:pPr>
            <a:r>
              <a:rPr sz="1300" b="0">
                <a:solidFill>
                  <a:srgbClr val="0E2841"/>
                </a:solidFill>
              </a:rPr>
              <a:t>Water-mark surveys after the next significant storm — photographs and levelled marks at a few dozen street locations</a:t>
            </a:r>
          </a:p>
          <a:p>
            <a:pPr>
              <a:spcAft>
                <a:spcPts val="1000"/>
              </a:spcAft>
              <a:buNone/>
            </a:pPr>
            <a:r>
              <a:rPr sz="1300" b="0">
                <a:solidFill>
                  <a:srgbClr val="0E2841"/>
                </a:solidFill>
              </a:rPr>
              <a:t>A handful of low-cost depth loggers at known ponding points</a:t>
            </a:r>
          </a:p>
          <a:p>
            <a:pPr>
              <a:spcAft>
                <a:spcPts val="1000"/>
              </a:spcAft>
              <a:buNone/>
            </a:pPr>
            <a:r>
              <a:rPr sz="1300" b="0">
                <a:solidFill>
                  <a:srgbClr val="0E2841"/>
                </a:solidFill>
              </a:rPr>
              <a:t>Timing of when key streets became impassable</a:t>
            </a:r>
          </a:p>
          <a:p>
            <a:pPr>
              <a:spcAft>
                <a:spcPts val="1000"/>
              </a:spcAft>
              <a:buNone/>
            </a:pPr>
            <a:r>
              <a:rPr sz="1300" b="0">
                <a:solidFill>
                  <a:srgbClr val="0E2841"/>
                </a:solidFill>
              </a:rPr>
              <a:t/>
            </a:r>
          </a:p>
          <a:p>
            <a:pPr>
              <a:spcAft>
                <a:spcPts val="1000"/>
              </a:spcAft>
              <a:buNone/>
            </a:pPr>
            <a:r>
              <a:rPr sz="1300" b="1">
                <a:solidFill>
                  <a:srgbClr val="0E2841"/>
                </a:solidFill>
              </a:rPr>
              <a:t>What it would buy</a:t>
            </a:r>
            <a:r>
              <a:rPr sz="1300" b="0">
                <a:solidFill>
                  <a:srgbClr val="0E2841"/>
                </a:solidFill>
              </a:rPr>
              <a:t/>
            </a:r>
          </a:p>
          <a:p>
            <a:pPr>
              <a:spcAft>
                <a:spcPts val="1000"/>
              </a:spcAft>
              <a:buNone/>
            </a:pPr>
            <a:r>
              <a:rPr sz="1300" b="0">
                <a:solidFill>
                  <a:srgbClr val="0E2841"/>
                </a:solidFill>
              </a:rPr>
              <a:t>A measured error, not an inter-model one — and results that can carry planning decisions with confidence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Dinacity Fonts">
      <a:majorFont>
        <a:latin typeface="Nunito Medium"/>
        <a:ea typeface=""/>
        <a:cs typeface=""/>
      </a:majorFont>
      <a:minorFont>
        <a:latin typeface="Nunito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Presentation1" id="{65B31332-5001-435E-9333-871E95BA7F59}" vid="{1A4A6ECA-947B-40B0-8AE2-B5206784538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TaxCatchAll xmlns="670101ee-7326-488b-895d-07c329b793e7" xsi:nil="true"/>
    <lcf76f155ced4ddcb4097134ff3c332f xmlns="6278b8b1-e0cb-4b44-9900-b20ee6e41941">
      <Terms xmlns="http://schemas.microsoft.com/office/infopath/2007/PartnerControls"/>
    </lcf76f155ced4ddcb4097134ff3c332f>
    <_x0062_wk9 xmlns="6278b8b1-e0cb-4b44-9900-b20ee6e41941" xsi:nil="true"/>
    <rw1p xmlns="6278b8b1-e0cb-4b44-9900-b20ee6e41941" xsi:nil="true"/>
  </documentManagement>
</p:properties>
</file>

<file path=customXml/item3.xml><?xml version="1.0" encoding="utf-8"?>
<ct:contentTypeSchema xmlns:ct="http://schemas.microsoft.com/office/2006/metadata/contentType" xmlns:ma="http://schemas.microsoft.com/office/2006/metadata/properties/metaAttributes" ct:_="" ma:_="" ma:contentTypeName="Έγγραφο" ma:contentTypeID="0x01010073F678BB1249FE4099E86C6A23212417" ma:contentTypeVersion="23" ma:contentTypeDescription="Δημιουργία νέου εγγράφου" ma:contentTypeScope="" ma:versionID="646443ebe87849433602a019ef747cf7">
  <xsd:schema xmlns:xsd="http://www.w3.org/2001/XMLSchema" xmlns:xs="http://www.w3.org/2001/XMLSchema" xmlns:p="http://schemas.microsoft.com/office/2006/metadata/properties" xmlns:ns1="http://schemas.microsoft.com/sharepoint/v3" xmlns:ns2="6278b8b1-e0cb-4b44-9900-b20ee6e41941" xmlns:ns3="670101ee-7326-488b-895d-07c329b793e7" targetNamespace="http://schemas.microsoft.com/office/2006/metadata/properties" ma:root="true" ma:fieldsID="591960f37fd1d9d4e41cdf8ff3f20a24" ns1:_="" ns2:_="" ns3:_="">
    <xsd:import namespace="http://schemas.microsoft.com/sharepoint/v3"/>
    <xsd:import namespace="6278b8b1-e0cb-4b44-9900-b20ee6e41941"/>
    <xsd:import namespace="670101ee-7326-488b-895d-07c329b793e7"/>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AutoTags" minOccurs="0"/>
                <xsd:element ref="ns2:MediaServiceOCR" minOccurs="0"/>
                <xsd:element ref="ns2:MediaServiceGenerationTime" minOccurs="0"/>
                <xsd:element ref="ns2:MediaServiceEventHashCode" minOccurs="0"/>
                <xsd:element ref="ns2:MediaServiceDateTaken" minOccurs="0"/>
                <xsd:element ref="ns2:MediaServiceLocation" minOccurs="0"/>
                <xsd:element ref="ns3:SharedWithUsers" minOccurs="0"/>
                <xsd:element ref="ns3:SharedWithDetails" minOccurs="0"/>
                <xsd:element ref="ns1:_ip_UnifiedCompliancePolicyProperties" minOccurs="0"/>
                <xsd:element ref="ns1:_ip_UnifiedCompliancePolicyUIAction" minOccurs="0"/>
                <xsd:element ref="ns2:_x0062_wk9" minOccurs="0"/>
                <xsd:element ref="ns2:rw1p" minOccurs="0"/>
                <xsd:element ref="ns2:MediaLengthInSeconds" minOccurs="0"/>
                <xsd:element ref="ns2:lcf76f155ced4ddcb4097134ff3c332f" minOccurs="0"/>
                <xsd:element ref="ns3:TaxCatchAll"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Ιδιότητες Ενοποιημένης Πολιτικής Συμμόρφωσης" ma:hidden="true" ma:internalName="_ip_UnifiedCompliancePolicyProperties">
      <xsd:simpleType>
        <xsd:restriction base="dms:Note"/>
      </xsd:simpleType>
    </xsd:element>
    <xsd:element name="_ip_UnifiedCompliancePolicyUIAction" ma:index="21" nillable="true" ma:displayName="Ενέργεια περιβάλλοντος εργασίας χρήστη της Ενοποιημένης Πολιτικής Συμμόρφωσης"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6278b8b1-e0cb-4b44-9900-b20ee6e4194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AutoTags" ma:index="12" nillable="true" ma:displayName="Tags" ma:internalName="MediaServiceAutoTags" ma:readOnly="true">
      <xsd:simpleType>
        <xsd:restriction base="dms:Text"/>
      </xsd:simpleType>
    </xsd:element>
    <xsd:element name="MediaServiceOCR" ma:index="13" nillable="true" ma:displayName="Extracted Text" ma:internalName="MediaServiceOCR" ma:readOnly="true">
      <xsd:simpleType>
        <xsd:restriction base="dms:Note">
          <xsd:maxLength value="255"/>
        </xsd:restriction>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DateTaken" ma:index="16" nillable="true" ma:displayName="MediaServiceDateTaken" ma:hidden="true" ma:internalName="MediaServiceDateTaken" ma:readOnly="true">
      <xsd:simpleType>
        <xsd:restriction base="dms:Text"/>
      </xsd:simpleType>
    </xsd:element>
    <xsd:element name="MediaServiceLocation" ma:index="17" nillable="true" ma:displayName="Location" ma:internalName="MediaServiceLocation" ma:readOnly="true">
      <xsd:simpleType>
        <xsd:restriction base="dms:Text"/>
      </xsd:simpleType>
    </xsd:element>
    <xsd:element name="_x0062_wk9" ma:index="22" nillable="true" ma:displayName="Number" ma:internalName="_x0062_wk9">
      <xsd:simpleType>
        <xsd:restriction base="dms:Number"/>
      </xsd:simpleType>
    </xsd:element>
    <xsd:element name="rw1p" ma:index="23" nillable="true" ma:displayName="Date and time" ma:internalName="rw1p">
      <xsd:simpleType>
        <xsd:restriction base="dms:DateTime"/>
      </xsd:simpleType>
    </xsd:element>
    <xsd:element name="MediaLengthInSeconds" ma:index="24" nillable="true" ma:displayName="Length (seconds)" ma:internalName="MediaLengthInSeconds" ma:readOnly="true">
      <xsd:simpleType>
        <xsd:restriction base="dms:Unknown"/>
      </xsd:simpleType>
    </xsd:element>
    <xsd:element name="lcf76f155ced4ddcb4097134ff3c332f" ma:index="26" nillable="true" ma:taxonomy="true" ma:internalName="lcf76f155ced4ddcb4097134ff3c332f" ma:taxonomyFieldName="MediaServiceImageTags" ma:displayName="Ετικέτες εικόνας" ma:readOnly="false" ma:fieldId="{5cf76f15-5ced-4ddc-b409-7134ff3c332f}" ma:taxonomyMulti="true" ma:sspId="a7d4629c-c99d-46d8-b76a-4217568a1b31"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8"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BillingMetadata" ma:index="30"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670101ee-7326-488b-895d-07c329b793e7" elementFormDefault="qualified">
    <xsd:import namespace="http://schemas.microsoft.com/office/2006/documentManagement/types"/>
    <xsd:import namespace="http://schemas.microsoft.com/office/infopath/2007/PartnerControls"/>
    <xsd:element name="SharedWithUsers" ma:index="18" nillable="true" ma:displayName="Κοινή χρήση με"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Κοινή χρήση με λεπτομέρειες" ma:internalName="SharedWithDetails" ma:readOnly="true">
      <xsd:simpleType>
        <xsd:restriction base="dms:Note">
          <xsd:maxLength value="255"/>
        </xsd:restriction>
      </xsd:simpleType>
    </xsd:element>
    <xsd:element name="TaxCatchAll" ma:index="27" nillable="true" ma:displayName="Taxonomy Catch All Column" ma:hidden="true" ma:list="{9aeaf665-82a6-4c1f-973c-f43a9b1cc5bf}" ma:internalName="TaxCatchAll" ma:showField="CatchAllData" ma:web="670101ee-7326-488b-895d-07c329b793e7">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Τύπος περιεχομένου"/>
        <xsd:element ref="dc:title" minOccurs="0" maxOccurs="1" ma:index="4" ma:displayName="Τίτλος"/>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3FB57510-B681-47F6-8E99-9252B30CDC62}">
  <ds:schemaRefs>
    <ds:schemaRef ds:uri="http://schemas.microsoft.com/sharepoint/v3/contenttype/forms"/>
  </ds:schemaRefs>
</ds:datastoreItem>
</file>

<file path=customXml/itemProps2.xml><?xml version="1.0" encoding="utf-8"?>
<ds:datastoreItem xmlns:ds="http://schemas.openxmlformats.org/officeDocument/2006/customXml" ds:itemID="{9F91E52D-438F-4309-B578-89517B330E00}">
  <ds:schemaRefs>
    <ds:schemaRef ds:uri="http://schemas.microsoft.com/office/2006/metadata/properties"/>
    <ds:schemaRef ds:uri="http://schemas.microsoft.com/office/infopath/2007/PartnerControls"/>
    <ds:schemaRef ds:uri="http://schemas.microsoft.com/sharepoint/v3"/>
    <ds:schemaRef ds:uri="7ee6759f-7020-40dd-8657-62f4b4c621ca"/>
    <ds:schemaRef ds:uri="62fe6f83-6605-4ff5-ab64-658e0c9990e4"/>
    <ds:schemaRef ds:uri="670101ee-7326-488b-895d-07c329b793e7"/>
    <ds:schemaRef ds:uri="6278b8b1-e0cb-4b44-9900-b20ee6e41941"/>
  </ds:schemaRefs>
</ds:datastoreItem>
</file>

<file path=customXml/itemProps3.xml><?xml version="1.0" encoding="utf-8"?>
<ds:datastoreItem xmlns:ds="http://schemas.openxmlformats.org/officeDocument/2006/customXml" ds:itemID="{C30F14B3-BCC4-448F-9EDD-2D6A0849675F}"/>
</file>

<file path=docProps/app.xml><?xml version="1.0" encoding="utf-8"?>
<Properties xmlns="http://schemas.openxmlformats.org/officeDocument/2006/extended-properties" xmlns:vt="http://schemas.openxmlformats.org/officeDocument/2006/docPropsVTypes">
  <Template/>
  <TotalTime>164</TotalTime>
  <Words>70</Words>
  <Application>Microsoft Office PowerPoint</Application>
  <PresentationFormat>Widescreen</PresentationFormat>
  <Paragraphs>25</Paragraphs>
  <Slides>10</Slides>
  <Notes>3</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10</vt:i4>
      </vt:variant>
    </vt:vector>
  </HeadingPairs>
  <TitlesOfParts>
    <vt:vector size="19" baseType="lpstr">
      <vt:lpstr>Aptos</vt:lpstr>
      <vt:lpstr>Arial</vt:lpstr>
      <vt:lpstr>Nunito Medium</vt:lpstr>
      <vt:lpstr>Nunito Sans</vt:lpstr>
      <vt:lpstr>Nunito Sans Normal</vt:lpstr>
      <vt:lpstr>Nunito Sans Normal ExtraBold</vt:lpstr>
      <vt:lpstr>Nunito Sans Normal SemiBold</vt:lpstr>
      <vt:lpstr>Wingdings</vt:lpstr>
      <vt:lpstr>Office Theme</vt:lpstr>
      <vt:lpstr>[Main Title] </vt:lpstr>
      <vt:lpstr>ADD A HIGHLIGHTED TITLE</vt:lpstr>
      <vt:lpstr>ADD A TITLE OF YOUR CHOICE</vt:lpstr>
      <vt:lpstr>ADD AN OPTIONAL TITLE</vt:lpstr>
      <vt:lpstr>ADD YOUR TITLE</vt:lpstr>
      <vt:lpstr>ADD A TITLE</vt:lpstr>
      <vt:lpstr>ADD YOUR SLIDE TITLE</vt:lpstr>
      <vt:lpstr>ADD TITLE</vt:lpstr>
      <vt:lpstr>Meet our Partners</vt:lpstr>
      <vt:lpstr>[Ending Title/ CTA]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Christos Papadimitriou</dc:creator>
  <cp:lastModifiedBy>Christos Papadimitriou</cp:lastModifiedBy>
  <cp:revision>24</cp:revision>
  <dcterms:created xsi:type="dcterms:W3CDTF">2026-05-19T13:34:40Z</dcterms:created>
  <dcterms:modified xsi:type="dcterms:W3CDTF">2026-07-29T08:19:37Z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0x01010073F678BB1249FE4099E86C6A23212417</vt:lpwstr>
  </property>
  <property fmtid="{D5CDD505-2E9C-101B-9397-08002B2CF9AE}" pid="3" name="MediaServiceImageTags">
    <vt:lpwstr/>
  </property>
</Properties>
</file>